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8" d="100"/>
          <a:sy n="108" d="100"/>
        </p:scale>
        <p:origin x="678" y="10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hyperlink" Target="https://www.youtube.com/watch?v=RfMuzjEBz5g"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Rectangle 1"/>
          <p:cNvSpPr/>
          <p:nvPr/>
        </p:nvSpPr>
        <p:spPr>
          <a:xfrm>
            <a:off x="0" y="0"/>
            <a:ext cx="5029200" cy="68580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8686800" y="-914400"/>
            <a:ext cx="3657600" cy="3657600"/>
          </a:xfrm>
          <a:prstGeom prst="ellipse">
            <a:avLst/>
          </a:prstGeom>
          <a:solidFill>
            <a:srgbClr val="2E3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9601200" y="4754880"/>
            <a:ext cx="3200400" cy="3200400"/>
          </a:xfrm>
          <a:prstGeom prst="ellipse">
            <a:avLst/>
          </a:prstGeom>
          <a:solidFill>
            <a:srgbClr val="161D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005840"/>
            <a:ext cx="4389120" cy="457200"/>
          </a:xfrm>
          <a:prstGeom prst="rect">
            <a:avLst/>
          </a:prstGeom>
          <a:noFill/>
        </p:spPr>
        <p:txBody>
          <a:bodyPr wrap="square">
            <a:spAutoFit/>
          </a:bodyPr>
          <a:lstStyle/>
          <a:p>
            <a:pPr algn="l"/>
            <a:r>
              <a:rPr sz="1100" b="0" i="0">
                <a:solidFill>
                  <a:srgbClr val="CADCFC"/>
                </a:solidFill>
                <a:latin typeface="Calibri"/>
              </a:rPr>
              <a:t>FLUTTER APPLICATION</a:t>
            </a:r>
          </a:p>
        </p:txBody>
      </p:sp>
      <p:sp>
        <p:nvSpPr>
          <p:cNvPr id="7" name="TextBox 6"/>
          <p:cNvSpPr txBox="1"/>
          <p:nvPr/>
        </p:nvSpPr>
        <p:spPr>
          <a:xfrm>
            <a:off x="457200" y="1554480"/>
            <a:ext cx="4572000" cy="1280160"/>
          </a:xfrm>
          <a:prstGeom prst="rect">
            <a:avLst/>
          </a:prstGeom>
          <a:noFill/>
        </p:spPr>
        <p:txBody>
          <a:bodyPr wrap="square">
            <a:spAutoFit/>
          </a:bodyPr>
          <a:lstStyle/>
          <a:p>
            <a:pPr algn="l"/>
            <a:r>
              <a:rPr sz="3400" b="1" i="0">
                <a:solidFill>
                  <a:srgbClr val="FFFFFF"/>
                </a:solidFill>
                <a:latin typeface="Calibri"/>
              </a:rPr>
              <a:t>Task Manager App</a:t>
            </a:r>
          </a:p>
        </p:txBody>
      </p:sp>
      <p:sp>
        <p:nvSpPr>
          <p:cNvPr id="8" name="Rectangle 7"/>
          <p:cNvSpPr/>
          <p:nvPr/>
        </p:nvSpPr>
        <p:spPr>
          <a:xfrm>
            <a:off x="457200" y="2971800"/>
            <a:ext cx="3200400" cy="4572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3154680"/>
            <a:ext cx="4389120" cy="914400"/>
          </a:xfrm>
          <a:prstGeom prst="rect">
            <a:avLst/>
          </a:prstGeom>
          <a:noFill/>
        </p:spPr>
        <p:txBody>
          <a:bodyPr wrap="square">
            <a:spAutoFit/>
          </a:bodyPr>
          <a:lstStyle/>
          <a:p>
            <a:pPr algn="l"/>
            <a:r>
              <a:rPr sz="1300" b="0" i="0">
                <a:solidFill>
                  <a:srgbClr val="CADCFC"/>
                </a:solidFill>
                <a:latin typeface="Calibri"/>
              </a:rPr>
              <a:t>A Flutter-Based CRUD Application
Using Back4App as Backend-as-a-Service</a:t>
            </a:r>
          </a:p>
        </p:txBody>
      </p:sp>
      <p:sp>
        <p:nvSpPr>
          <p:cNvPr id="10" name="TextBox 9"/>
          <p:cNvSpPr txBox="1"/>
          <p:nvPr/>
        </p:nvSpPr>
        <p:spPr>
          <a:xfrm>
            <a:off x="457200" y="5029200"/>
            <a:ext cx="4206240" cy="600164"/>
          </a:xfrm>
          <a:prstGeom prst="rect">
            <a:avLst/>
          </a:prstGeom>
          <a:noFill/>
        </p:spPr>
        <p:txBody>
          <a:bodyPr wrap="square">
            <a:spAutoFit/>
          </a:bodyPr>
          <a:lstStyle/>
          <a:p>
            <a:pPr algn="l"/>
            <a:r>
              <a:rPr sz="1000" b="0" dirty="0">
                <a:solidFill>
                  <a:srgbClr val="FFFFFF"/>
                </a:solidFill>
                <a:latin typeface="Calibri"/>
              </a:rPr>
              <a:t>Submitted by:</a:t>
            </a:r>
          </a:p>
          <a:p>
            <a:pPr algn="l"/>
            <a:r>
              <a:rPr lang="en-IN" sz="1300" b="1" dirty="0" smtClean="0">
                <a:solidFill>
                  <a:srgbClr val="FFFFFF"/>
                </a:solidFill>
                <a:latin typeface="Calibri"/>
              </a:rPr>
              <a:t>Chetan </a:t>
            </a:r>
            <a:r>
              <a:rPr lang="en-IN" sz="1300" b="1" dirty="0" err="1" smtClean="0">
                <a:solidFill>
                  <a:srgbClr val="FFFFFF"/>
                </a:solidFill>
                <a:latin typeface="Calibri"/>
              </a:rPr>
              <a:t>Ranganath</a:t>
            </a:r>
            <a:endParaRPr sz="1300" b="1" dirty="0">
              <a:solidFill>
                <a:srgbClr val="FFFFFF"/>
              </a:solidFill>
              <a:latin typeface="Calibri"/>
            </a:endParaRPr>
          </a:p>
          <a:p>
            <a:pPr algn="l"/>
            <a:r>
              <a:rPr sz="1000" b="0" dirty="0" smtClean="0">
                <a:solidFill>
                  <a:srgbClr val="FFFFFF"/>
                </a:solidFill>
                <a:latin typeface="Calibri"/>
              </a:rPr>
              <a:t>[</a:t>
            </a:r>
            <a:r>
              <a:rPr lang="en-IN" sz="1000" dirty="0" smtClean="0">
                <a:solidFill>
                  <a:srgbClr val="FFFFFF"/>
                </a:solidFill>
                <a:latin typeface="Calibri"/>
              </a:rPr>
              <a:t>2024tm93593</a:t>
            </a:r>
            <a:r>
              <a:rPr sz="1000" b="0" dirty="0" smtClean="0">
                <a:solidFill>
                  <a:srgbClr val="FFFFFF"/>
                </a:solidFill>
                <a:latin typeface="Calibri"/>
              </a:rPr>
              <a:t>] </a:t>
            </a:r>
            <a:endParaRPr sz="1000" b="0" dirty="0">
              <a:solidFill>
                <a:srgbClr val="FFFFFF"/>
              </a:solidFill>
              <a:latin typeface="Calibri"/>
            </a:endParaRPr>
          </a:p>
        </p:txBody>
      </p:sp>
      <p:sp>
        <p:nvSpPr>
          <p:cNvPr id="11" name="TextBox 10"/>
          <p:cNvSpPr txBox="1"/>
          <p:nvPr/>
        </p:nvSpPr>
        <p:spPr>
          <a:xfrm>
            <a:off x="5486400" y="1371600"/>
            <a:ext cx="6217920" cy="457200"/>
          </a:xfrm>
          <a:prstGeom prst="rect">
            <a:avLst/>
          </a:prstGeom>
          <a:noFill/>
        </p:spPr>
        <p:txBody>
          <a:bodyPr wrap="square">
            <a:spAutoFit/>
          </a:bodyPr>
          <a:lstStyle/>
          <a:p>
            <a:pPr algn="l"/>
            <a:r>
              <a:rPr sz="1400" b="1" i="0">
                <a:solidFill>
                  <a:srgbClr val="CADCFC"/>
                </a:solidFill>
                <a:latin typeface="Calibri"/>
              </a:rPr>
              <a:t>Key Highlights</a:t>
            </a:r>
          </a:p>
        </p:txBody>
      </p:sp>
      <p:sp>
        <p:nvSpPr>
          <p:cNvPr id="12" name="Rectangle 11"/>
          <p:cNvSpPr/>
          <p:nvPr/>
        </p:nvSpPr>
        <p:spPr>
          <a:xfrm>
            <a:off x="5486400" y="1874519"/>
            <a:ext cx="5029200" cy="36576"/>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486400" y="2103120"/>
            <a:ext cx="5943600" cy="621792"/>
          </a:xfrm>
          <a:prstGeom prst="rect">
            <a:avLst/>
          </a:prstGeom>
          <a:solidFill>
            <a:srgbClr val="2E3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486400" y="2103120"/>
            <a:ext cx="54864" cy="621792"/>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669280" y="2139696"/>
            <a:ext cx="5577840" cy="502920"/>
          </a:xfrm>
          <a:prstGeom prst="rect">
            <a:avLst/>
          </a:prstGeom>
          <a:noFill/>
        </p:spPr>
        <p:txBody>
          <a:bodyPr wrap="square">
            <a:spAutoFit/>
          </a:bodyPr>
          <a:lstStyle/>
          <a:p>
            <a:pPr algn="l"/>
            <a:r>
              <a:rPr sz="1100" b="0" i="0">
                <a:solidFill>
                  <a:srgbClr val="FFFFFF"/>
                </a:solidFill>
                <a:latin typeface="Calibri"/>
              </a:rPr>
              <a:t>User registration and login via Back4App authentication</a:t>
            </a:r>
          </a:p>
        </p:txBody>
      </p:sp>
      <p:sp>
        <p:nvSpPr>
          <p:cNvPr id="16" name="Rectangle 15"/>
          <p:cNvSpPr/>
          <p:nvPr/>
        </p:nvSpPr>
        <p:spPr>
          <a:xfrm>
            <a:off x="5486400" y="2907791"/>
            <a:ext cx="5943600" cy="621792"/>
          </a:xfrm>
          <a:prstGeom prst="rect">
            <a:avLst/>
          </a:prstGeom>
          <a:solidFill>
            <a:srgbClr val="2E3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486400" y="2907791"/>
            <a:ext cx="54864" cy="621792"/>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669280" y="2944368"/>
            <a:ext cx="5577840" cy="502920"/>
          </a:xfrm>
          <a:prstGeom prst="rect">
            <a:avLst/>
          </a:prstGeom>
          <a:noFill/>
        </p:spPr>
        <p:txBody>
          <a:bodyPr wrap="square">
            <a:spAutoFit/>
          </a:bodyPr>
          <a:lstStyle/>
          <a:p>
            <a:pPr algn="l"/>
            <a:r>
              <a:rPr sz="1100" b="0" i="0">
                <a:solidFill>
                  <a:srgbClr val="FFFFFF"/>
                </a:solidFill>
                <a:latin typeface="Calibri"/>
              </a:rPr>
              <a:t>Full CRUD operations: create, read, update, and delete tasks</a:t>
            </a:r>
          </a:p>
        </p:txBody>
      </p:sp>
      <p:sp>
        <p:nvSpPr>
          <p:cNvPr id="19" name="Rectangle 18"/>
          <p:cNvSpPr/>
          <p:nvPr/>
        </p:nvSpPr>
        <p:spPr>
          <a:xfrm>
            <a:off x="5486400" y="3712463"/>
            <a:ext cx="5943600" cy="621792"/>
          </a:xfrm>
          <a:prstGeom prst="rect">
            <a:avLst/>
          </a:prstGeom>
          <a:solidFill>
            <a:srgbClr val="2E3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5486400" y="3712463"/>
            <a:ext cx="54864" cy="621792"/>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669280" y="3749039"/>
            <a:ext cx="5577840" cy="502920"/>
          </a:xfrm>
          <a:prstGeom prst="rect">
            <a:avLst/>
          </a:prstGeom>
          <a:noFill/>
        </p:spPr>
        <p:txBody>
          <a:bodyPr wrap="square">
            <a:spAutoFit/>
          </a:bodyPr>
          <a:lstStyle/>
          <a:p>
            <a:pPr algn="l"/>
            <a:r>
              <a:rPr sz="1100" b="0" i="0">
                <a:solidFill>
                  <a:srgbClr val="FFFFFF"/>
                </a:solidFill>
                <a:latin typeface="Calibri"/>
              </a:rPr>
              <a:t>Cloud database storage with no custom server setup</a:t>
            </a:r>
          </a:p>
        </p:txBody>
      </p:sp>
      <p:sp>
        <p:nvSpPr>
          <p:cNvPr id="22" name="Rectangle 21"/>
          <p:cNvSpPr/>
          <p:nvPr/>
        </p:nvSpPr>
        <p:spPr>
          <a:xfrm>
            <a:off x="5486400" y="4517136"/>
            <a:ext cx="5943600" cy="621792"/>
          </a:xfrm>
          <a:prstGeom prst="rect">
            <a:avLst/>
          </a:prstGeom>
          <a:solidFill>
            <a:srgbClr val="2E3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486400" y="4517136"/>
            <a:ext cx="54864" cy="621792"/>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669280" y="4553712"/>
            <a:ext cx="5577840" cy="502920"/>
          </a:xfrm>
          <a:prstGeom prst="rect">
            <a:avLst/>
          </a:prstGeom>
          <a:noFill/>
        </p:spPr>
        <p:txBody>
          <a:bodyPr wrap="square">
            <a:spAutoFit/>
          </a:bodyPr>
          <a:lstStyle/>
          <a:p>
            <a:pPr algn="l"/>
            <a:r>
              <a:rPr sz="1100" b="0" i="0">
                <a:solidFill>
                  <a:srgbClr val="FFFFFF"/>
                </a:solidFill>
                <a:latin typeface="Calibri"/>
              </a:rPr>
              <a:t>Real-time data sync between Flutter app and Back4App</a:t>
            </a:r>
          </a:p>
        </p:txBody>
      </p:sp>
      <p:sp>
        <p:nvSpPr>
          <p:cNvPr id="25" name="Rectangle 24"/>
          <p:cNvSpPr/>
          <p:nvPr/>
        </p:nvSpPr>
        <p:spPr>
          <a:xfrm>
            <a:off x="5486400" y="5321808"/>
            <a:ext cx="5943600" cy="621792"/>
          </a:xfrm>
          <a:prstGeom prst="rect">
            <a:avLst/>
          </a:prstGeom>
          <a:solidFill>
            <a:srgbClr val="2E3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5486400" y="5321808"/>
            <a:ext cx="54864" cy="621792"/>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669280" y="5358383"/>
            <a:ext cx="5577840" cy="502920"/>
          </a:xfrm>
          <a:prstGeom prst="rect">
            <a:avLst/>
          </a:prstGeom>
          <a:noFill/>
        </p:spPr>
        <p:txBody>
          <a:bodyPr wrap="square">
            <a:spAutoFit/>
          </a:bodyPr>
          <a:lstStyle/>
          <a:p>
            <a:pPr algn="l"/>
            <a:r>
              <a:rPr sz="1100" b="0" i="0">
                <a:solidFill>
                  <a:srgbClr val="FFFFFF"/>
                </a:solidFill>
                <a:latin typeface="Calibri"/>
              </a:rPr>
              <a:t>Session-based secure logout functionality</a:t>
            </a:r>
          </a:p>
        </p:txBody>
      </p:sp>
      <p:sp>
        <p:nvSpPr>
          <p:cNvPr id="28" name="TextBox 27"/>
          <p:cNvSpPr txBox="1"/>
          <p:nvPr/>
        </p:nvSpPr>
        <p:spPr>
          <a:xfrm>
            <a:off x="5486400" y="6492240"/>
            <a:ext cx="5943600" cy="274320"/>
          </a:xfrm>
          <a:prstGeom prst="rect">
            <a:avLst/>
          </a:prstGeom>
          <a:noFill/>
        </p:spPr>
        <p:txBody>
          <a:bodyPr wrap="square">
            <a:spAutoFit/>
          </a:bodyPr>
          <a:lstStyle/>
          <a:p>
            <a:pPr algn="l"/>
            <a:r>
              <a:rPr sz="900" b="0" i="0">
                <a:solidFill>
                  <a:srgbClr val="55657A"/>
                </a:solidFill>
                <a:latin typeface="Calibri"/>
              </a:rPr>
              <a:t>Academic Year 2024-25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64592"/>
            <a:ext cx="9144000" cy="640080"/>
          </a:xfrm>
          <a:prstGeom prst="rect">
            <a:avLst/>
          </a:prstGeom>
          <a:noFill/>
        </p:spPr>
        <p:txBody>
          <a:bodyPr wrap="square">
            <a:spAutoFit/>
          </a:bodyPr>
          <a:lstStyle/>
          <a:p>
            <a:pPr algn="l"/>
            <a:r>
              <a:rPr sz="2600" b="1" i="0">
                <a:solidFill>
                  <a:srgbClr val="FFFFFF"/>
                </a:solidFill>
                <a:latin typeface="Calibri"/>
              </a:rPr>
              <a:t>Project Overview</a:t>
            </a:r>
          </a:p>
        </p:txBody>
      </p:sp>
      <p:sp>
        <p:nvSpPr>
          <p:cNvPr id="4" name="TextBox 3"/>
          <p:cNvSpPr txBox="1"/>
          <p:nvPr/>
        </p:nvSpPr>
        <p:spPr>
          <a:xfrm>
            <a:off x="457200" y="640080"/>
            <a:ext cx="9144000" cy="320040"/>
          </a:xfrm>
          <a:prstGeom prst="rect">
            <a:avLst/>
          </a:prstGeom>
          <a:noFill/>
        </p:spPr>
        <p:txBody>
          <a:bodyPr wrap="square">
            <a:spAutoFit/>
          </a:bodyPr>
          <a:lstStyle/>
          <a:p>
            <a:pPr algn="l"/>
            <a:r>
              <a:rPr sz="1100" b="0" i="0">
                <a:solidFill>
                  <a:srgbClr val="CADCFC"/>
                </a:solidFill>
                <a:latin typeface="Calibri"/>
              </a:rPr>
              <a:t>What this application does and why it was built</a:t>
            </a:r>
          </a:p>
        </p:txBody>
      </p:sp>
      <p:sp>
        <p:nvSpPr>
          <p:cNvPr id="5" name="Rectangle 4"/>
          <p:cNvSpPr/>
          <p:nvPr/>
        </p:nvSpPr>
        <p:spPr>
          <a:xfrm>
            <a:off x="365760" y="1188720"/>
            <a:ext cx="5394960" cy="5212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65760" y="1188720"/>
            <a:ext cx="73152" cy="52120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1325880"/>
            <a:ext cx="4937760" cy="365760"/>
          </a:xfrm>
          <a:prstGeom prst="rect">
            <a:avLst/>
          </a:prstGeom>
          <a:noFill/>
        </p:spPr>
        <p:txBody>
          <a:bodyPr wrap="square">
            <a:spAutoFit/>
          </a:bodyPr>
          <a:lstStyle/>
          <a:p>
            <a:pPr algn="l"/>
            <a:r>
              <a:rPr sz="1400" b="1" i="0">
                <a:solidFill>
                  <a:srgbClr val="1E2761"/>
                </a:solidFill>
                <a:latin typeface="Calibri"/>
              </a:rPr>
              <a:t>About the Project</a:t>
            </a:r>
          </a:p>
        </p:txBody>
      </p:sp>
      <p:sp>
        <p:nvSpPr>
          <p:cNvPr id="8" name="Rectangle 7"/>
          <p:cNvSpPr/>
          <p:nvPr/>
        </p:nvSpPr>
        <p:spPr>
          <a:xfrm>
            <a:off x="594360" y="1755648"/>
            <a:ext cx="4389120" cy="36576"/>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94360" y="1874519"/>
            <a:ext cx="4937760" cy="1371600"/>
          </a:xfrm>
          <a:prstGeom prst="rect">
            <a:avLst/>
          </a:prstGeom>
          <a:noFill/>
        </p:spPr>
        <p:txBody>
          <a:bodyPr wrap="square">
            <a:spAutoFit/>
          </a:bodyPr>
          <a:lstStyle/>
          <a:p>
            <a:r>
              <a:rPr sz="1100" b="0">
                <a:solidFill>
                  <a:srgbClr val="55657A"/>
                </a:solidFill>
                <a:latin typeface="Calibri"/>
              </a:rPr>
              <a:t>This project is a Task Manager application built using </a:t>
            </a:r>
            <a:r>
              <a:rPr sz="1100" b="1">
                <a:solidFill>
                  <a:srgbClr val="55657A"/>
                </a:solidFill>
                <a:latin typeface="Calibri"/>
              </a:rPr>
              <a:t>Flutter</a:t>
            </a:r>
            <a:r>
              <a:rPr sz="1100" b="0">
                <a:solidFill>
                  <a:srgbClr val="55657A"/>
                </a:solidFill>
                <a:latin typeface="Calibri"/>
              </a:rPr>
              <a:t> as the frontend framework and </a:t>
            </a:r>
            <a:r>
              <a:rPr sz="1100" b="1">
                <a:solidFill>
                  <a:srgbClr val="55657A"/>
                </a:solidFill>
                <a:latin typeface="Calibri"/>
              </a:rPr>
              <a:t>Back4App</a:t>
            </a:r>
            <a:r>
              <a:rPr sz="1100" b="0">
                <a:solidFill>
                  <a:srgbClr val="55657A"/>
                </a:solidFill>
                <a:latin typeface="Calibri"/>
              </a:rPr>
              <a:t> as the cloud backend. The application removes the need to write or maintain any server-side code by using a Backend-as-a-Service platform.</a:t>
            </a:r>
          </a:p>
        </p:txBody>
      </p:sp>
      <p:sp>
        <p:nvSpPr>
          <p:cNvPr id="10" name="Rectangle 9"/>
          <p:cNvSpPr/>
          <p:nvPr/>
        </p:nvSpPr>
        <p:spPr>
          <a:xfrm>
            <a:off x="594360" y="3337560"/>
            <a:ext cx="201168" cy="201168"/>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4400" y="3310128"/>
            <a:ext cx="4572000" cy="365760"/>
          </a:xfrm>
          <a:prstGeom prst="rect">
            <a:avLst/>
          </a:prstGeom>
          <a:noFill/>
        </p:spPr>
        <p:txBody>
          <a:bodyPr wrap="square">
            <a:spAutoFit/>
          </a:bodyPr>
          <a:lstStyle/>
          <a:p>
            <a:pPr algn="l"/>
            <a:r>
              <a:rPr sz="1050" b="0" i="0">
                <a:solidFill>
                  <a:srgbClr val="55657A"/>
                </a:solidFill>
                <a:latin typeface="Calibri"/>
              </a:rPr>
              <a:t>Students register and log in using their college email address</a:t>
            </a:r>
          </a:p>
        </p:txBody>
      </p:sp>
      <p:sp>
        <p:nvSpPr>
          <p:cNvPr id="12" name="Rectangle 11"/>
          <p:cNvSpPr/>
          <p:nvPr/>
        </p:nvSpPr>
        <p:spPr>
          <a:xfrm>
            <a:off x="594360" y="3995928"/>
            <a:ext cx="201168" cy="201168"/>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14400" y="3968496"/>
            <a:ext cx="4572000" cy="365760"/>
          </a:xfrm>
          <a:prstGeom prst="rect">
            <a:avLst/>
          </a:prstGeom>
          <a:noFill/>
        </p:spPr>
        <p:txBody>
          <a:bodyPr wrap="square">
            <a:spAutoFit/>
          </a:bodyPr>
          <a:lstStyle/>
          <a:p>
            <a:pPr algn="l"/>
            <a:r>
              <a:rPr sz="1050" b="0" i="0">
                <a:solidFill>
                  <a:srgbClr val="55657A"/>
                </a:solidFill>
                <a:latin typeface="Calibri"/>
              </a:rPr>
              <a:t>Tasks can be created with a title, description, and priority level</a:t>
            </a:r>
          </a:p>
        </p:txBody>
      </p:sp>
      <p:sp>
        <p:nvSpPr>
          <p:cNvPr id="14" name="Rectangle 13"/>
          <p:cNvSpPr/>
          <p:nvPr/>
        </p:nvSpPr>
        <p:spPr>
          <a:xfrm>
            <a:off x="594360" y="4654296"/>
            <a:ext cx="201168" cy="201168"/>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4400" y="4626864"/>
            <a:ext cx="4572000" cy="365760"/>
          </a:xfrm>
          <a:prstGeom prst="rect">
            <a:avLst/>
          </a:prstGeom>
          <a:noFill/>
        </p:spPr>
        <p:txBody>
          <a:bodyPr wrap="square">
            <a:spAutoFit/>
          </a:bodyPr>
          <a:lstStyle/>
          <a:p>
            <a:pPr algn="l"/>
            <a:r>
              <a:rPr sz="1050" b="0" i="0">
                <a:solidFill>
                  <a:srgbClr val="55657A"/>
                </a:solidFill>
                <a:latin typeface="Calibri"/>
              </a:rPr>
              <a:t>Every task update immediately reflects in the Back4App cloud database</a:t>
            </a:r>
          </a:p>
        </p:txBody>
      </p:sp>
      <p:sp>
        <p:nvSpPr>
          <p:cNvPr id="16" name="Rectangle 15"/>
          <p:cNvSpPr/>
          <p:nvPr/>
        </p:nvSpPr>
        <p:spPr>
          <a:xfrm>
            <a:off x="594360" y="5312664"/>
            <a:ext cx="201168" cy="201168"/>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14400" y="5285232"/>
            <a:ext cx="4572000" cy="365760"/>
          </a:xfrm>
          <a:prstGeom prst="rect">
            <a:avLst/>
          </a:prstGeom>
          <a:noFill/>
        </p:spPr>
        <p:txBody>
          <a:bodyPr wrap="square">
            <a:spAutoFit/>
          </a:bodyPr>
          <a:lstStyle/>
          <a:p>
            <a:pPr algn="l"/>
            <a:r>
              <a:rPr sz="1050" b="0" i="0">
                <a:solidFill>
                  <a:srgbClr val="55657A"/>
                </a:solidFill>
                <a:latin typeface="Calibri"/>
              </a:rPr>
              <a:t>Users can safely log out and their session is invalidated on the server</a:t>
            </a:r>
          </a:p>
        </p:txBody>
      </p:sp>
      <p:sp>
        <p:nvSpPr>
          <p:cNvPr id="18" name="Rectangle 17"/>
          <p:cNvSpPr/>
          <p:nvPr/>
        </p:nvSpPr>
        <p:spPr>
          <a:xfrm>
            <a:off x="6309360" y="1188720"/>
            <a:ext cx="5394960" cy="5212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309360" y="1188720"/>
            <a:ext cx="73152" cy="521208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537960" y="1325880"/>
            <a:ext cx="4937760" cy="365760"/>
          </a:xfrm>
          <a:prstGeom prst="rect">
            <a:avLst/>
          </a:prstGeom>
          <a:noFill/>
        </p:spPr>
        <p:txBody>
          <a:bodyPr wrap="square">
            <a:spAutoFit/>
          </a:bodyPr>
          <a:lstStyle/>
          <a:p>
            <a:pPr algn="l"/>
            <a:r>
              <a:rPr sz="1400" b="1" i="0">
                <a:solidFill>
                  <a:srgbClr val="1E2761"/>
                </a:solidFill>
                <a:latin typeface="Calibri"/>
              </a:rPr>
              <a:t>Assignment Context</a:t>
            </a:r>
          </a:p>
        </p:txBody>
      </p:sp>
      <p:sp>
        <p:nvSpPr>
          <p:cNvPr id="21" name="Rectangle 20"/>
          <p:cNvSpPr/>
          <p:nvPr/>
        </p:nvSpPr>
        <p:spPr>
          <a:xfrm>
            <a:off x="6537960" y="1755648"/>
            <a:ext cx="4389120" cy="36576"/>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537960" y="1920240"/>
            <a:ext cx="4937760" cy="548640"/>
          </a:xfrm>
          <a:prstGeom prst="rect">
            <a:avLst/>
          </a:prstGeom>
          <a:solidFill>
            <a:srgbClr val="F4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629400" y="1965960"/>
            <a:ext cx="1645920" cy="274320"/>
          </a:xfrm>
          <a:prstGeom prst="rect">
            <a:avLst/>
          </a:prstGeom>
          <a:noFill/>
        </p:spPr>
        <p:txBody>
          <a:bodyPr wrap="square">
            <a:spAutoFit/>
          </a:bodyPr>
          <a:lstStyle/>
          <a:p>
            <a:pPr algn="l"/>
            <a:r>
              <a:rPr sz="900" b="0" i="0">
                <a:solidFill>
                  <a:srgbClr val="55657A"/>
                </a:solidFill>
                <a:latin typeface="Calibri"/>
              </a:rPr>
              <a:t>Subject</a:t>
            </a:r>
          </a:p>
        </p:txBody>
      </p:sp>
      <p:sp>
        <p:nvSpPr>
          <p:cNvPr id="24" name="TextBox 23"/>
          <p:cNvSpPr txBox="1"/>
          <p:nvPr/>
        </p:nvSpPr>
        <p:spPr>
          <a:xfrm>
            <a:off x="6629400" y="2176272"/>
            <a:ext cx="4572000" cy="256032"/>
          </a:xfrm>
          <a:prstGeom prst="rect">
            <a:avLst/>
          </a:prstGeom>
          <a:noFill/>
        </p:spPr>
        <p:txBody>
          <a:bodyPr wrap="square">
            <a:spAutoFit/>
          </a:bodyPr>
          <a:lstStyle/>
          <a:p>
            <a:pPr algn="l"/>
            <a:r>
              <a:rPr sz="1100" b="1" i="0">
                <a:solidFill>
                  <a:srgbClr val="1E2761"/>
                </a:solidFill>
                <a:latin typeface="Calibri"/>
              </a:rPr>
              <a:t>Mobile Application Development</a:t>
            </a:r>
          </a:p>
        </p:txBody>
      </p:sp>
      <p:sp>
        <p:nvSpPr>
          <p:cNvPr id="25" name="Rectangle 24"/>
          <p:cNvSpPr/>
          <p:nvPr/>
        </p:nvSpPr>
        <p:spPr>
          <a:xfrm>
            <a:off x="6537960" y="2606040"/>
            <a:ext cx="4937760" cy="548640"/>
          </a:xfrm>
          <a:prstGeom prst="rect">
            <a:avLst/>
          </a:prstGeom>
          <a:solidFill>
            <a:srgbClr val="F4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629400" y="2651760"/>
            <a:ext cx="1645920" cy="274320"/>
          </a:xfrm>
          <a:prstGeom prst="rect">
            <a:avLst/>
          </a:prstGeom>
          <a:noFill/>
        </p:spPr>
        <p:txBody>
          <a:bodyPr wrap="square">
            <a:spAutoFit/>
          </a:bodyPr>
          <a:lstStyle/>
          <a:p>
            <a:pPr algn="l"/>
            <a:r>
              <a:rPr sz="900" b="0" i="0">
                <a:solidFill>
                  <a:srgbClr val="55657A"/>
                </a:solidFill>
                <a:latin typeface="Calibri"/>
              </a:rPr>
              <a:t>Platform</a:t>
            </a:r>
          </a:p>
        </p:txBody>
      </p:sp>
      <p:sp>
        <p:nvSpPr>
          <p:cNvPr id="27" name="TextBox 26"/>
          <p:cNvSpPr txBox="1"/>
          <p:nvPr/>
        </p:nvSpPr>
        <p:spPr>
          <a:xfrm>
            <a:off x="6629400" y="2862072"/>
            <a:ext cx="4572000" cy="256032"/>
          </a:xfrm>
          <a:prstGeom prst="rect">
            <a:avLst/>
          </a:prstGeom>
          <a:noFill/>
        </p:spPr>
        <p:txBody>
          <a:bodyPr wrap="square">
            <a:spAutoFit/>
          </a:bodyPr>
          <a:lstStyle/>
          <a:p>
            <a:pPr algn="l"/>
            <a:r>
              <a:rPr sz="1100" b="1" i="0">
                <a:solidFill>
                  <a:srgbClr val="1E2761"/>
                </a:solidFill>
                <a:latin typeface="Calibri"/>
              </a:rPr>
              <a:t>Android (tested on physical device)</a:t>
            </a:r>
          </a:p>
        </p:txBody>
      </p:sp>
      <p:sp>
        <p:nvSpPr>
          <p:cNvPr id="28" name="Rectangle 27"/>
          <p:cNvSpPr/>
          <p:nvPr/>
        </p:nvSpPr>
        <p:spPr>
          <a:xfrm>
            <a:off x="6537960" y="3291840"/>
            <a:ext cx="4937760" cy="548640"/>
          </a:xfrm>
          <a:prstGeom prst="rect">
            <a:avLst/>
          </a:prstGeom>
          <a:solidFill>
            <a:srgbClr val="F4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629400" y="3337560"/>
            <a:ext cx="1645920" cy="274320"/>
          </a:xfrm>
          <a:prstGeom prst="rect">
            <a:avLst/>
          </a:prstGeom>
          <a:noFill/>
        </p:spPr>
        <p:txBody>
          <a:bodyPr wrap="square">
            <a:spAutoFit/>
          </a:bodyPr>
          <a:lstStyle/>
          <a:p>
            <a:pPr algn="l"/>
            <a:r>
              <a:rPr sz="900" b="0" i="0">
                <a:solidFill>
                  <a:srgbClr val="55657A"/>
                </a:solidFill>
                <a:latin typeface="Calibri"/>
              </a:rPr>
              <a:t>Backend</a:t>
            </a:r>
          </a:p>
        </p:txBody>
      </p:sp>
      <p:sp>
        <p:nvSpPr>
          <p:cNvPr id="30" name="TextBox 29"/>
          <p:cNvSpPr txBox="1"/>
          <p:nvPr/>
        </p:nvSpPr>
        <p:spPr>
          <a:xfrm>
            <a:off x="6629400" y="3547872"/>
            <a:ext cx="4572000" cy="256032"/>
          </a:xfrm>
          <a:prstGeom prst="rect">
            <a:avLst/>
          </a:prstGeom>
          <a:noFill/>
        </p:spPr>
        <p:txBody>
          <a:bodyPr wrap="square">
            <a:spAutoFit/>
          </a:bodyPr>
          <a:lstStyle/>
          <a:p>
            <a:pPr algn="l"/>
            <a:r>
              <a:rPr sz="1100" b="1" i="0">
                <a:solidFill>
                  <a:srgbClr val="1E2761"/>
                </a:solidFill>
                <a:latin typeface="Calibri"/>
              </a:rPr>
              <a:t>Back4App - Parse Server</a:t>
            </a:r>
          </a:p>
        </p:txBody>
      </p:sp>
      <p:sp>
        <p:nvSpPr>
          <p:cNvPr id="31" name="Rectangle 30"/>
          <p:cNvSpPr/>
          <p:nvPr/>
        </p:nvSpPr>
        <p:spPr>
          <a:xfrm>
            <a:off x="6537960" y="3977639"/>
            <a:ext cx="4937760" cy="548640"/>
          </a:xfrm>
          <a:prstGeom prst="rect">
            <a:avLst/>
          </a:prstGeom>
          <a:solidFill>
            <a:srgbClr val="F4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629400" y="4023359"/>
            <a:ext cx="1645920" cy="274320"/>
          </a:xfrm>
          <a:prstGeom prst="rect">
            <a:avLst/>
          </a:prstGeom>
          <a:noFill/>
        </p:spPr>
        <p:txBody>
          <a:bodyPr wrap="square">
            <a:spAutoFit/>
          </a:bodyPr>
          <a:lstStyle/>
          <a:p>
            <a:pPr algn="l"/>
            <a:r>
              <a:rPr sz="900" b="0" i="0">
                <a:solidFill>
                  <a:srgbClr val="55657A"/>
                </a:solidFill>
                <a:latin typeface="Calibri"/>
              </a:rPr>
              <a:t>Database</a:t>
            </a:r>
          </a:p>
        </p:txBody>
      </p:sp>
      <p:sp>
        <p:nvSpPr>
          <p:cNvPr id="33" name="TextBox 32"/>
          <p:cNvSpPr txBox="1"/>
          <p:nvPr/>
        </p:nvSpPr>
        <p:spPr>
          <a:xfrm>
            <a:off x="6629400" y="4233672"/>
            <a:ext cx="4572000" cy="256032"/>
          </a:xfrm>
          <a:prstGeom prst="rect">
            <a:avLst/>
          </a:prstGeom>
          <a:noFill/>
        </p:spPr>
        <p:txBody>
          <a:bodyPr wrap="square">
            <a:spAutoFit/>
          </a:bodyPr>
          <a:lstStyle/>
          <a:p>
            <a:pPr algn="l"/>
            <a:r>
              <a:rPr sz="1100" b="1" i="0">
                <a:solidFill>
                  <a:srgbClr val="1E2761"/>
                </a:solidFill>
                <a:latin typeface="Calibri"/>
              </a:rPr>
              <a:t>Back4App Cloud Database</a:t>
            </a:r>
          </a:p>
        </p:txBody>
      </p:sp>
      <p:sp>
        <p:nvSpPr>
          <p:cNvPr id="34" name="Rectangle 33"/>
          <p:cNvSpPr/>
          <p:nvPr/>
        </p:nvSpPr>
        <p:spPr>
          <a:xfrm>
            <a:off x="6537960" y="4663440"/>
            <a:ext cx="4937760" cy="548640"/>
          </a:xfrm>
          <a:prstGeom prst="rect">
            <a:avLst/>
          </a:prstGeom>
          <a:solidFill>
            <a:srgbClr val="F4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629400" y="4709159"/>
            <a:ext cx="1645920" cy="274320"/>
          </a:xfrm>
          <a:prstGeom prst="rect">
            <a:avLst/>
          </a:prstGeom>
          <a:noFill/>
        </p:spPr>
        <p:txBody>
          <a:bodyPr wrap="square">
            <a:spAutoFit/>
          </a:bodyPr>
          <a:lstStyle/>
          <a:p>
            <a:pPr algn="l"/>
            <a:r>
              <a:rPr sz="900" b="0" i="0">
                <a:solidFill>
                  <a:srgbClr val="55657A"/>
                </a:solidFill>
                <a:latin typeface="Calibri"/>
              </a:rPr>
              <a:t>Language</a:t>
            </a:r>
          </a:p>
        </p:txBody>
      </p:sp>
      <p:sp>
        <p:nvSpPr>
          <p:cNvPr id="36" name="TextBox 35"/>
          <p:cNvSpPr txBox="1"/>
          <p:nvPr/>
        </p:nvSpPr>
        <p:spPr>
          <a:xfrm>
            <a:off x="6629400" y="4919472"/>
            <a:ext cx="4572000" cy="256032"/>
          </a:xfrm>
          <a:prstGeom prst="rect">
            <a:avLst/>
          </a:prstGeom>
          <a:noFill/>
        </p:spPr>
        <p:txBody>
          <a:bodyPr wrap="square">
            <a:spAutoFit/>
          </a:bodyPr>
          <a:lstStyle/>
          <a:p>
            <a:pPr algn="l"/>
            <a:r>
              <a:rPr sz="1100" b="1" i="0">
                <a:solidFill>
                  <a:srgbClr val="1E2761"/>
                </a:solidFill>
                <a:latin typeface="Calibri"/>
              </a:rPr>
              <a:t>Dart (Flutter Framework)</a:t>
            </a:r>
          </a:p>
        </p:txBody>
      </p:sp>
      <p:sp>
        <p:nvSpPr>
          <p:cNvPr id="37" name="Rectangle 36"/>
          <p:cNvSpPr/>
          <p:nvPr/>
        </p:nvSpPr>
        <p:spPr>
          <a:xfrm>
            <a:off x="6537960" y="5349240"/>
            <a:ext cx="4937760" cy="548640"/>
          </a:xfrm>
          <a:prstGeom prst="rect">
            <a:avLst/>
          </a:prstGeom>
          <a:solidFill>
            <a:srgbClr val="F4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629400" y="5394959"/>
            <a:ext cx="1645920" cy="274320"/>
          </a:xfrm>
          <a:prstGeom prst="rect">
            <a:avLst/>
          </a:prstGeom>
          <a:noFill/>
        </p:spPr>
        <p:txBody>
          <a:bodyPr wrap="square">
            <a:spAutoFit/>
          </a:bodyPr>
          <a:lstStyle/>
          <a:p>
            <a:pPr algn="l"/>
            <a:r>
              <a:rPr sz="900" b="0" i="0">
                <a:solidFill>
                  <a:srgbClr val="55657A"/>
                </a:solidFill>
                <a:latin typeface="Calibri"/>
              </a:rPr>
              <a:t>Version Control</a:t>
            </a:r>
          </a:p>
        </p:txBody>
      </p:sp>
      <p:sp>
        <p:nvSpPr>
          <p:cNvPr id="39" name="TextBox 38"/>
          <p:cNvSpPr txBox="1"/>
          <p:nvPr/>
        </p:nvSpPr>
        <p:spPr>
          <a:xfrm>
            <a:off x="6629400" y="5605272"/>
            <a:ext cx="4572000" cy="256032"/>
          </a:xfrm>
          <a:prstGeom prst="rect">
            <a:avLst/>
          </a:prstGeom>
          <a:noFill/>
        </p:spPr>
        <p:txBody>
          <a:bodyPr wrap="square">
            <a:spAutoFit/>
          </a:bodyPr>
          <a:lstStyle/>
          <a:p>
            <a:pPr algn="l"/>
            <a:r>
              <a:rPr sz="1100" b="1" i="0">
                <a:solidFill>
                  <a:srgbClr val="1E2761"/>
                </a:solidFill>
                <a:latin typeface="Calibri"/>
              </a:rPr>
              <a:t>GitHub</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64592"/>
            <a:ext cx="9144000" cy="640080"/>
          </a:xfrm>
          <a:prstGeom prst="rect">
            <a:avLst/>
          </a:prstGeom>
          <a:noFill/>
        </p:spPr>
        <p:txBody>
          <a:bodyPr wrap="square">
            <a:spAutoFit/>
          </a:bodyPr>
          <a:lstStyle/>
          <a:p>
            <a:pPr algn="l"/>
            <a:r>
              <a:rPr sz="2600" b="1" i="0">
                <a:solidFill>
                  <a:srgbClr val="FFFFFF"/>
                </a:solidFill>
                <a:latin typeface="Calibri"/>
              </a:rPr>
              <a:t>Why Use Back4App as BaaS</a:t>
            </a:r>
          </a:p>
        </p:txBody>
      </p:sp>
      <p:sp>
        <p:nvSpPr>
          <p:cNvPr id="4" name="TextBox 3"/>
          <p:cNvSpPr txBox="1"/>
          <p:nvPr/>
        </p:nvSpPr>
        <p:spPr>
          <a:xfrm>
            <a:off x="457200" y="640080"/>
            <a:ext cx="10058400" cy="320040"/>
          </a:xfrm>
          <a:prstGeom prst="rect">
            <a:avLst/>
          </a:prstGeom>
          <a:noFill/>
        </p:spPr>
        <p:txBody>
          <a:bodyPr wrap="square">
            <a:spAutoFit/>
          </a:bodyPr>
          <a:lstStyle/>
          <a:p>
            <a:pPr algn="l"/>
            <a:r>
              <a:rPr sz="1100" b="0" i="0">
                <a:solidFill>
                  <a:srgbClr val="CADCFC"/>
                </a:solidFill>
                <a:latin typeface="Calibri"/>
              </a:rPr>
              <a:t>The rationale behind choosing a Backend-as-a-Service for this project</a:t>
            </a:r>
          </a:p>
        </p:txBody>
      </p:sp>
      <p:sp>
        <p:nvSpPr>
          <p:cNvPr id="5" name="Rectangle 4"/>
          <p:cNvSpPr/>
          <p:nvPr/>
        </p:nvSpPr>
        <p:spPr>
          <a:xfrm>
            <a:off x="365760" y="1280160"/>
            <a:ext cx="3383280" cy="2286000"/>
          </a:xfrm>
          <a:prstGeom prst="rect">
            <a:avLst/>
          </a:prstGeom>
          <a:solidFill>
            <a:srgbClr val="2E3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65760" y="1280160"/>
            <a:ext cx="3383280" cy="54864"/>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30352" y="1444751"/>
            <a:ext cx="3017520" cy="411480"/>
          </a:xfrm>
          <a:prstGeom prst="rect">
            <a:avLst/>
          </a:prstGeom>
          <a:noFill/>
        </p:spPr>
        <p:txBody>
          <a:bodyPr wrap="square">
            <a:spAutoFit/>
          </a:bodyPr>
          <a:lstStyle/>
          <a:p>
            <a:pPr algn="l"/>
            <a:r>
              <a:rPr sz="1200" b="1" i="0">
                <a:solidFill>
                  <a:srgbClr val="FFFFFF"/>
                </a:solidFill>
                <a:latin typeface="Calibri"/>
              </a:rPr>
              <a:t>No Server Setup Required</a:t>
            </a:r>
          </a:p>
        </p:txBody>
      </p:sp>
      <p:sp>
        <p:nvSpPr>
          <p:cNvPr id="8" name="TextBox 7"/>
          <p:cNvSpPr txBox="1"/>
          <p:nvPr/>
        </p:nvSpPr>
        <p:spPr>
          <a:xfrm>
            <a:off x="530352" y="1920239"/>
            <a:ext cx="3017520" cy="1508760"/>
          </a:xfrm>
          <a:prstGeom prst="rect">
            <a:avLst/>
          </a:prstGeom>
          <a:noFill/>
        </p:spPr>
        <p:txBody>
          <a:bodyPr wrap="square">
            <a:spAutoFit/>
          </a:bodyPr>
          <a:lstStyle/>
          <a:p>
            <a:pPr algn="l"/>
            <a:r>
              <a:rPr sz="1000" b="0" i="0">
                <a:solidFill>
                  <a:srgbClr val="CADCFC"/>
                </a:solidFill>
                <a:latin typeface="Calibri"/>
              </a:rPr>
              <a:t>Back4App provides a fully managed Parse Server. There is no need to configure databases, write API routes, or handle server deployment. All infrastructure is handled by the platform.</a:t>
            </a:r>
          </a:p>
        </p:txBody>
      </p:sp>
      <p:sp>
        <p:nvSpPr>
          <p:cNvPr id="9" name="Rectangle 8"/>
          <p:cNvSpPr/>
          <p:nvPr/>
        </p:nvSpPr>
        <p:spPr>
          <a:xfrm>
            <a:off x="4206240" y="1280160"/>
            <a:ext cx="3383280" cy="2286000"/>
          </a:xfrm>
          <a:prstGeom prst="rect">
            <a:avLst/>
          </a:prstGeom>
          <a:solidFill>
            <a:srgbClr val="2E3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206240" y="1280160"/>
            <a:ext cx="3383280" cy="54864"/>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370831" y="1444751"/>
            <a:ext cx="3017520" cy="411480"/>
          </a:xfrm>
          <a:prstGeom prst="rect">
            <a:avLst/>
          </a:prstGeom>
          <a:noFill/>
        </p:spPr>
        <p:txBody>
          <a:bodyPr wrap="square">
            <a:spAutoFit/>
          </a:bodyPr>
          <a:lstStyle/>
          <a:p>
            <a:pPr algn="l"/>
            <a:r>
              <a:rPr sz="1200" b="1" i="0">
                <a:solidFill>
                  <a:srgbClr val="FFFFFF"/>
                </a:solidFill>
                <a:latin typeface="Calibri"/>
              </a:rPr>
              <a:t>Built-In User Authentication</a:t>
            </a:r>
          </a:p>
        </p:txBody>
      </p:sp>
      <p:sp>
        <p:nvSpPr>
          <p:cNvPr id="12" name="TextBox 11"/>
          <p:cNvSpPr txBox="1"/>
          <p:nvPr/>
        </p:nvSpPr>
        <p:spPr>
          <a:xfrm>
            <a:off x="4370831" y="1920239"/>
            <a:ext cx="3017520" cy="1508760"/>
          </a:xfrm>
          <a:prstGeom prst="rect">
            <a:avLst/>
          </a:prstGeom>
          <a:noFill/>
        </p:spPr>
        <p:txBody>
          <a:bodyPr wrap="square">
            <a:spAutoFit/>
          </a:bodyPr>
          <a:lstStyle/>
          <a:p>
            <a:pPr algn="l"/>
            <a:r>
              <a:rPr sz="1000" b="0" i="0">
                <a:solidFill>
                  <a:srgbClr val="CADCFC"/>
                </a:solidFill>
                <a:latin typeface="Calibri"/>
              </a:rPr>
              <a:t>The platform includes a ready-to-use authentication system that supports registration, login, session management, and password security without writing a single line of backend code.</a:t>
            </a:r>
          </a:p>
        </p:txBody>
      </p:sp>
      <p:sp>
        <p:nvSpPr>
          <p:cNvPr id="13" name="Rectangle 12"/>
          <p:cNvSpPr/>
          <p:nvPr/>
        </p:nvSpPr>
        <p:spPr>
          <a:xfrm>
            <a:off x="8046720" y="1280160"/>
            <a:ext cx="3383280" cy="2286000"/>
          </a:xfrm>
          <a:prstGeom prst="rect">
            <a:avLst/>
          </a:prstGeom>
          <a:solidFill>
            <a:srgbClr val="2E3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046720" y="1280160"/>
            <a:ext cx="3383280" cy="54864"/>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11312" y="1444751"/>
            <a:ext cx="3017520" cy="411480"/>
          </a:xfrm>
          <a:prstGeom prst="rect">
            <a:avLst/>
          </a:prstGeom>
          <a:noFill/>
        </p:spPr>
        <p:txBody>
          <a:bodyPr wrap="square">
            <a:spAutoFit/>
          </a:bodyPr>
          <a:lstStyle/>
          <a:p>
            <a:pPr algn="l"/>
            <a:r>
              <a:rPr sz="1200" b="1" i="0">
                <a:solidFill>
                  <a:srgbClr val="FFFFFF"/>
                </a:solidFill>
                <a:latin typeface="Calibri"/>
              </a:rPr>
              <a:t>Cloud Database Included</a:t>
            </a:r>
          </a:p>
        </p:txBody>
      </p:sp>
      <p:sp>
        <p:nvSpPr>
          <p:cNvPr id="16" name="TextBox 15"/>
          <p:cNvSpPr txBox="1"/>
          <p:nvPr/>
        </p:nvSpPr>
        <p:spPr>
          <a:xfrm>
            <a:off x="8211312" y="1920239"/>
            <a:ext cx="3017520" cy="1508760"/>
          </a:xfrm>
          <a:prstGeom prst="rect">
            <a:avLst/>
          </a:prstGeom>
          <a:noFill/>
        </p:spPr>
        <p:txBody>
          <a:bodyPr wrap="square">
            <a:spAutoFit/>
          </a:bodyPr>
          <a:lstStyle/>
          <a:p>
            <a:pPr algn="l"/>
            <a:r>
              <a:rPr sz="1000" b="0" i="0">
                <a:solidFill>
                  <a:srgbClr val="CADCFC"/>
                </a:solidFill>
                <a:latin typeface="Calibri"/>
              </a:rPr>
              <a:t>Back4App provides an integrated cloud database. Data is stored in structured classes similar to tables, and objects can be queried, updated, and deleted through the Parse SDK.</a:t>
            </a:r>
          </a:p>
        </p:txBody>
      </p:sp>
      <p:sp>
        <p:nvSpPr>
          <p:cNvPr id="17" name="Rectangle 16"/>
          <p:cNvSpPr/>
          <p:nvPr/>
        </p:nvSpPr>
        <p:spPr>
          <a:xfrm>
            <a:off x="365760" y="3886200"/>
            <a:ext cx="3383280" cy="2286000"/>
          </a:xfrm>
          <a:prstGeom prst="rect">
            <a:avLst/>
          </a:prstGeom>
          <a:solidFill>
            <a:srgbClr val="2E3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365760" y="3886200"/>
            <a:ext cx="3383280" cy="54864"/>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30352" y="4050791"/>
            <a:ext cx="3017520" cy="411480"/>
          </a:xfrm>
          <a:prstGeom prst="rect">
            <a:avLst/>
          </a:prstGeom>
          <a:noFill/>
        </p:spPr>
        <p:txBody>
          <a:bodyPr wrap="square">
            <a:spAutoFit/>
          </a:bodyPr>
          <a:lstStyle/>
          <a:p>
            <a:pPr algn="l"/>
            <a:r>
              <a:rPr sz="1200" b="1" i="0">
                <a:solidFill>
                  <a:srgbClr val="FFFFFF"/>
                </a:solidFill>
                <a:latin typeface="Calibri"/>
              </a:rPr>
              <a:t>Real-Time Data Access</a:t>
            </a:r>
          </a:p>
        </p:txBody>
      </p:sp>
      <p:sp>
        <p:nvSpPr>
          <p:cNvPr id="20" name="TextBox 19"/>
          <p:cNvSpPr txBox="1"/>
          <p:nvPr/>
        </p:nvSpPr>
        <p:spPr>
          <a:xfrm>
            <a:off x="530352" y="4526280"/>
            <a:ext cx="3017520" cy="1508760"/>
          </a:xfrm>
          <a:prstGeom prst="rect">
            <a:avLst/>
          </a:prstGeom>
          <a:noFill/>
        </p:spPr>
        <p:txBody>
          <a:bodyPr wrap="square">
            <a:spAutoFit/>
          </a:bodyPr>
          <a:lstStyle/>
          <a:p>
            <a:pPr algn="l"/>
            <a:r>
              <a:rPr sz="1000" b="0" i="0">
                <a:solidFill>
                  <a:srgbClr val="CADCFC"/>
                </a:solidFill>
                <a:latin typeface="Calibri"/>
              </a:rPr>
              <a:t>Any change made through the Flutter app is immediately persisted in the cloud. The app can query the latest state of data on every screen load without managing local cache logic.</a:t>
            </a:r>
          </a:p>
        </p:txBody>
      </p:sp>
      <p:sp>
        <p:nvSpPr>
          <p:cNvPr id="21" name="Rectangle 20"/>
          <p:cNvSpPr/>
          <p:nvPr/>
        </p:nvSpPr>
        <p:spPr>
          <a:xfrm>
            <a:off x="4206240" y="3886200"/>
            <a:ext cx="3383280" cy="2286000"/>
          </a:xfrm>
          <a:prstGeom prst="rect">
            <a:avLst/>
          </a:prstGeom>
          <a:solidFill>
            <a:srgbClr val="2E3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206240" y="3886200"/>
            <a:ext cx="3383280" cy="54864"/>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370831" y="4050791"/>
            <a:ext cx="3017520" cy="411480"/>
          </a:xfrm>
          <a:prstGeom prst="rect">
            <a:avLst/>
          </a:prstGeom>
          <a:noFill/>
        </p:spPr>
        <p:txBody>
          <a:bodyPr wrap="square">
            <a:spAutoFit/>
          </a:bodyPr>
          <a:lstStyle/>
          <a:p>
            <a:pPr algn="l"/>
            <a:r>
              <a:rPr sz="1200" b="1" i="0">
                <a:solidFill>
                  <a:srgbClr val="FFFFFF"/>
                </a:solidFill>
                <a:latin typeface="Calibri"/>
              </a:rPr>
              <a:t>Free Tier for Development</a:t>
            </a:r>
          </a:p>
        </p:txBody>
      </p:sp>
      <p:sp>
        <p:nvSpPr>
          <p:cNvPr id="24" name="TextBox 23"/>
          <p:cNvSpPr txBox="1"/>
          <p:nvPr/>
        </p:nvSpPr>
        <p:spPr>
          <a:xfrm>
            <a:off x="4370831" y="4526280"/>
            <a:ext cx="3017520" cy="1508760"/>
          </a:xfrm>
          <a:prstGeom prst="rect">
            <a:avLst/>
          </a:prstGeom>
          <a:noFill/>
        </p:spPr>
        <p:txBody>
          <a:bodyPr wrap="square">
            <a:spAutoFit/>
          </a:bodyPr>
          <a:lstStyle/>
          <a:p>
            <a:pPr algn="l"/>
            <a:r>
              <a:rPr sz="1000" b="0" i="0">
                <a:solidFill>
                  <a:srgbClr val="CADCFC"/>
                </a:solidFill>
                <a:latin typeface="Calibri"/>
              </a:rPr>
              <a:t>Back4App offers a free tier sufficient for academic projects and prototypes, making it accessible for students without requiring any financial commitment.</a:t>
            </a:r>
          </a:p>
        </p:txBody>
      </p:sp>
      <p:sp>
        <p:nvSpPr>
          <p:cNvPr id="25" name="Rectangle 24"/>
          <p:cNvSpPr/>
          <p:nvPr/>
        </p:nvSpPr>
        <p:spPr>
          <a:xfrm>
            <a:off x="8046720" y="3886200"/>
            <a:ext cx="3383280" cy="2286000"/>
          </a:xfrm>
          <a:prstGeom prst="rect">
            <a:avLst/>
          </a:prstGeom>
          <a:solidFill>
            <a:srgbClr val="2E3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8046720" y="3886200"/>
            <a:ext cx="3383280" cy="54864"/>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211312" y="4050791"/>
            <a:ext cx="3017520" cy="411480"/>
          </a:xfrm>
          <a:prstGeom prst="rect">
            <a:avLst/>
          </a:prstGeom>
          <a:noFill/>
        </p:spPr>
        <p:txBody>
          <a:bodyPr wrap="square">
            <a:spAutoFit/>
          </a:bodyPr>
          <a:lstStyle/>
          <a:p>
            <a:pPr algn="l"/>
            <a:r>
              <a:rPr sz="1200" b="1" i="0">
                <a:solidFill>
                  <a:srgbClr val="FFFFFF"/>
                </a:solidFill>
                <a:latin typeface="Calibri"/>
              </a:rPr>
              <a:t>Scalable When Needed</a:t>
            </a:r>
          </a:p>
        </p:txBody>
      </p:sp>
      <p:sp>
        <p:nvSpPr>
          <p:cNvPr id="28" name="TextBox 27"/>
          <p:cNvSpPr txBox="1"/>
          <p:nvPr/>
        </p:nvSpPr>
        <p:spPr>
          <a:xfrm>
            <a:off x="8211312" y="4526280"/>
            <a:ext cx="3017520" cy="1508760"/>
          </a:xfrm>
          <a:prstGeom prst="rect">
            <a:avLst/>
          </a:prstGeom>
          <a:noFill/>
        </p:spPr>
        <p:txBody>
          <a:bodyPr wrap="square">
            <a:spAutoFit/>
          </a:bodyPr>
          <a:lstStyle/>
          <a:p>
            <a:pPr algn="l"/>
            <a:r>
              <a:rPr sz="1000" b="0" i="0">
                <a:solidFill>
                  <a:srgbClr val="CADCFC"/>
                </a:solidFill>
                <a:latin typeface="Calibri"/>
              </a:rPr>
              <a:t>While this project runs in development mode, the same Back4App backend can scale to handle production-level traffic without changes to the Flutter code.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64592"/>
            <a:ext cx="9144000" cy="640080"/>
          </a:xfrm>
          <a:prstGeom prst="rect">
            <a:avLst/>
          </a:prstGeom>
          <a:noFill/>
        </p:spPr>
        <p:txBody>
          <a:bodyPr wrap="square">
            <a:spAutoFit/>
          </a:bodyPr>
          <a:lstStyle/>
          <a:p>
            <a:pPr algn="l"/>
            <a:r>
              <a:rPr sz="2600" b="1" i="0">
                <a:solidFill>
                  <a:srgbClr val="FFFFFF"/>
                </a:solidFill>
                <a:latin typeface="Calibri"/>
              </a:rPr>
              <a:t>Technology Stack</a:t>
            </a:r>
          </a:p>
        </p:txBody>
      </p:sp>
      <p:sp>
        <p:nvSpPr>
          <p:cNvPr id="4" name="TextBox 3"/>
          <p:cNvSpPr txBox="1"/>
          <p:nvPr/>
        </p:nvSpPr>
        <p:spPr>
          <a:xfrm>
            <a:off x="457200" y="640080"/>
            <a:ext cx="9144000" cy="320040"/>
          </a:xfrm>
          <a:prstGeom prst="rect">
            <a:avLst/>
          </a:prstGeom>
          <a:noFill/>
        </p:spPr>
        <p:txBody>
          <a:bodyPr wrap="square">
            <a:spAutoFit/>
          </a:bodyPr>
          <a:lstStyle/>
          <a:p>
            <a:pPr algn="l"/>
            <a:r>
              <a:rPr sz="1100" b="0" i="0">
                <a:solidFill>
                  <a:srgbClr val="CADCFC"/>
                </a:solidFill>
                <a:latin typeface="Calibri"/>
              </a:rPr>
              <a:t>Tools, frameworks, and services used to build this application</a:t>
            </a:r>
          </a:p>
        </p:txBody>
      </p:sp>
      <p:sp>
        <p:nvSpPr>
          <p:cNvPr id="5" name="Rectangle 4"/>
          <p:cNvSpPr/>
          <p:nvPr/>
        </p:nvSpPr>
        <p:spPr>
          <a:xfrm>
            <a:off x="365760" y="1188720"/>
            <a:ext cx="5577840" cy="1600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65760" y="1188720"/>
            <a:ext cx="73152" cy="16002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1298448"/>
            <a:ext cx="2743200" cy="347472"/>
          </a:xfrm>
          <a:prstGeom prst="rect">
            <a:avLst/>
          </a:prstGeom>
          <a:noFill/>
        </p:spPr>
        <p:txBody>
          <a:bodyPr wrap="square">
            <a:spAutoFit/>
          </a:bodyPr>
          <a:lstStyle/>
          <a:p>
            <a:pPr algn="l"/>
            <a:r>
              <a:rPr sz="1400" b="1" i="0">
                <a:solidFill>
                  <a:srgbClr val="1E2761"/>
                </a:solidFill>
                <a:latin typeface="Calibri"/>
              </a:rPr>
              <a:t>Flutter</a:t>
            </a:r>
          </a:p>
        </p:txBody>
      </p:sp>
      <p:sp>
        <p:nvSpPr>
          <p:cNvPr id="8" name="TextBox 7"/>
          <p:cNvSpPr txBox="1"/>
          <p:nvPr/>
        </p:nvSpPr>
        <p:spPr>
          <a:xfrm>
            <a:off x="594360" y="1645920"/>
            <a:ext cx="5029200" cy="256032"/>
          </a:xfrm>
          <a:prstGeom prst="rect">
            <a:avLst/>
          </a:prstGeom>
          <a:noFill/>
        </p:spPr>
        <p:txBody>
          <a:bodyPr wrap="square">
            <a:spAutoFit/>
          </a:bodyPr>
          <a:lstStyle/>
          <a:p>
            <a:pPr algn="l"/>
            <a:r>
              <a:rPr sz="1000" b="1" i="0">
                <a:solidFill>
                  <a:srgbClr val="4A90D9"/>
                </a:solidFill>
                <a:latin typeface="Calibri"/>
              </a:rPr>
              <a:t>Frontend Framework</a:t>
            </a:r>
          </a:p>
        </p:txBody>
      </p:sp>
      <p:sp>
        <p:nvSpPr>
          <p:cNvPr id="9" name="TextBox 8"/>
          <p:cNvSpPr txBox="1"/>
          <p:nvPr/>
        </p:nvSpPr>
        <p:spPr>
          <a:xfrm>
            <a:off x="594360" y="1938528"/>
            <a:ext cx="5212080" cy="777240"/>
          </a:xfrm>
          <a:prstGeom prst="rect">
            <a:avLst/>
          </a:prstGeom>
          <a:noFill/>
        </p:spPr>
        <p:txBody>
          <a:bodyPr wrap="square">
            <a:spAutoFit/>
          </a:bodyPr>
          <a:lstStyle/>
          <a:p>
            <a:pPr algn="l"/>
            <a:r>
              <a:rPr sz="1000" b="0" i="0">
                <a:solidFill>
                  <a:srgbClr val="55657A"/>
                </a:solidFill>
                <a:latin typeface="Calibri"/>
              </a:rPr>
              <a:t>Dart-based cross-platform UI toolkit developed by Google. Used to build the Android application interface including all screens, forms, and navigation.</a:t>
            </a:r>
          </a:p>
        </p:txBody>
      </p:sp>
      <p:sp>
        <p:nvSpPr>
          <p:cNvPr id="10" name="Rectangle 9"/>
          <p:cNvSpPr/>
          <p:nvPr/>
        </p:nvSpPr>
        <p:spPr>
          <a:xfrm>
            <a:off x="6263640" y="1188720"/>
            <a:ext cx="5577840" cy="1600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263640" y="1188720"/>
            <a:ext cx="73152" cy="160020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92240" y="1298448"/>
            <a:ext cx="2743200" cy="347472"/>
          </a:xfrm>
          <a:prstGeom prst="rect">
            <a:avLst/>
          </a:prstGeom>
          <a:noFill/>
        </p:spPr>
        <p:txBody>
          <a:bodyPr wrap="square">
            <a:spAutoFit/>
          </a:bodyPr>
          <a:lstStyle/>
          <a:p>
            <a:pPr algn="l"/>
            <a:r>
              <a:rPr sz="1400" b="1" i="0">
                <a:solidFill>
                  <a:srgbClr val="1E2761"/>
                </a:solidFill>
                <a:latin typeface="Calibri"/>
              </a:rPr>
              <a:t>Dart</a:t>
            </a:r>
          </a:p>
        </p:txBody>
      </p:sp>
      <p:sp>
        <p:nvSpPr>
          <p:cNvPr id="13" name="TextBox 12"/>
          <p:cNvSpPr txBox="1"/>
          <p:nvPr/>
        </p:nvSpPr>
        <p:spPr>
          <a:xfrm>
            <a:off x="6492240" y="1645920"/>
            <a:ext cx="5029200" cy="256032"/>
          </a:xfrm>
          <a:prstGeom prst="rect">
            <a:avLst/>
          </a:prstGeom>
          <a:noFill/>
        </p:spPr>
        <p:txBody>
          <a:bodyPr wrap="square">
            <a:spAutoFit/>
          </a:bodyPr>
          <a:lstStyle/>
          <a:p>
            <a:pPr algn="l"/>
            <a:r>
              <a:rPr sz="1000" b="1" i="0">
                <a:solidFill>
                  <a:srgbClr val="4A90D9"/>
                </a:solidFill>
                <a:latin typeface="Calibri"/>
              </a:rPr>
              <a:t>Programming Language</a:t>
            </a:r>
          </a:p>
        </p:txBody>
      </p:sp>
      <p:sp>
        <p:nvSpPr>
          <p:cNvPr id="14" name="TextBox 13"/>
          <p:cNvSpPr txBox="1"/>
          <p:nvPr/>
        </p:nvSpPr>
        <p:spPr>
          <a:xfrm>
            <a:off x="6492240" y="1938528"/>
            <a:ext cx="5212080" cy="777240"/>
          </a:xfrm>
          <a:prstGeom prst="rect">
            <a:avLst/>
          </a:prstGeom>
          <a:noFill/>
        </p:spPr>
        <p:txBody>
          <a:bodyPr wrap="square">
            <a:spAutoFit/>
          </a:bodyPr>
          <a:lstStyle/>
          <a:p>
            <a:pPr algn="l"/>
            <a:r>
              <a:rPr sz="1000" b="0" i="0">
                <a:solidFill>
                  <a:srgbClr val="55657A"/>
                </a:solidFill>
                <a:latin typeface="Calibri"/>
              </a:rPr>
              <a:t>Strongly typed, object-oriented language used by Flutter. All business logic, state management, and API calls are written in Dart.</a:t>
            </a:r>
          </a:p>
        </p:txBody>
      </p:sp>
      <p:sp>
        <p:nvSpPr>
          <p:cNvPr id="15" name="Rectangle 14"/>
          <p:cNvSpPr/>
          <p:nvPr/>
        </p:nvSpPr>
        <p:spPr>
          <a:xfrm>
            <a:off x="365760" y="3017520"/>
            <a:ext cx="5577840" cy="1600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365760" y="3017520"/>
            <a:ext cx="73152" cy="16002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94360" y="3127248"/>
            <a:ext cx="2743200" cy="347472"/>
          </a:xfrm>
          <a:prstGeom prst="rect">
            <a:avLst/>
          </a:prstGeom>
          <a:noFill/>
        </p:spPr>
        <p:txBody>
          <a:bodyPr wrap="square">
            <a:spAutoFit/>
          </a:bodyPr>
          <a:lstStyle/>
          <a:p>
            <a:pPr algn="l"/>
            <a:r>
              <a:rPr sz="1400" b="1" i="0">
                <a:solidFill>
                  <a:srgbClr val="1E2761"/>
                </a:solidFill>
                <a:latin typeface="Calibri"/>
              </a:rPr>
              <a:t>Back4App</a:t>
            </a:r>
          </a:p>
        </p:txBody>
      </p:sp>
      <p:sp>
        <p:nvSpPr>
          <p:cNvPr id="18" name="TextBox 17"/>
          <p:cNvSpPr txBox="1"/>
          <p:nvPr/>
        </p:nvSpPr>
        <p:spPr>
          <a:xfrm>
            <a:off x="594360" y="3474720"/>
            <a:ext cx="5029200" cy="256032"/>
          </a:xfrm>
          <a:prstGeom prst="rect">
            <a:avLst/>
          </a:prstGeom>
          <a:noFill/>
        </p:spPr>
        <p:txBody>
          <a:bodyPr wrap="square">
            <a:spAutoFit/>
          </a:bodyPr>
          <a:lstStyle/>
          <a:p>
            <a:pPr algn="l"/>
            <a:r>
              <a:rPr sz="1000" b="1" i="0">
                <a:solidFill>
                  <a:srgbClr val="4A90D9"/>
                </a:solidFill>
                <a:latin typeface="Calibri"/>
              </a:rPr>
              <a:t>Backend as a Service</a:t>
            </a:r>
          </a:p>
        </p:txBody>
      </p:sp>
      <p:sp>
        <p:nvSpPr>
          <p:cNvPr id="19" name="TextBox 18"/>
          <p:cNvSpPr txBox="1"/>
          <p:nvPr/>
        </p:nvSpPr>
        <p:spPr>
          <a:xfrm>
            <a:off x="594360" y="3767328"/>
            <a:ext cx="5212080" cy="777240"/>
          </a:xfrm>
          <a:prstGeom prst="rect">
            <a:avLst/>
          </a:prstGeom>
          <a:noFill/>
        </p:spPr>
        <p:txBody>
          <a:bodyPr wrap="square">
            <a:spAutoFit/>
          </a:bodyPr>
          <a:lstStyle/>
          <a:p>
            <a:pPr algn="l"/>
            <a:r>
              <a:rPr sz="1000" b="0" i="0">
                <a:solidFill>
                  <a:srgbClr val="55657A"/>
                </a:solidFill>
                <a:latin typeface="Calibri"/>
              </a:rPr>
              <a:t>Hosted Parse Server platform. Handles all backend operations including data storage, user authentication, and session management.</a:t>
            </a:r>
          </a:p>
        </p:txBody>
      </p:sp>
      <p:sp>
        <p:nvSpPr>
          <p:cNvPr id="20" name="Rectangle 19"/>
          <p:cNvSpPr/>
          <p:nvPr/>
        </p:nvSpPr>
        <p:spPr>
          <a:xfrm>
            <a:off x="6263640" y="3017520"/>
            <a:ext cx="5577840" cy="1600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263640" y="3017520"/>
            <a:ext cx="73152" cy="160020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92240" y="3127248"/>
            <a:ext cx="2743200" cy="347472"/>
          </a:xfrm>
          <a:prstGeom prst="rect">
            <a:avLst/>
          </a:prstGeom>
          <a:noFill/>
        </p:spPr>
        <p:txBody>
          <a:bodyPr wrap="square">
            <a:spAutoFit/>
          </a:bodyPr>
          <a:lstStyle/>
          <a:p>
            <a:pPr algn="l"/>
            <a:r>
              <a:rPr sz="1400" b="1" i="0">
                <a:solidFill>
                  <a:srgbClr val="1E2761"/>
                </a:solidFill>
                <a:latin typeface="Calibri"/>
              </a:rPr>
              <a:t>Parse Server</a:t>
            </a:r>
          </a:p>
        </p:txBody>
      </p:sp>
      <p:sp>
        <p:nvSpPr>
          <p:cNvPr id="23" name="TextBox 22"/>
          <p:cNvSpPr txBox="1"/>
          <p:nvPr/>
        </p:nvSpPr>
        <p:spPr>
          <a:xfrm>
            <a:off x="6492240" y="3474720"/>
            <a:ext cx="5029200" cy="256032"/>
          </a:xfrm>
          <a:prstGeom prst="rect">
            <a:avLst/>
          </a:prstGeom>
          <a:noFill/>
        </p:spPr>
        <p:txBody>
          <a:bodyPr wrap="square">
            <a:spAutoFit/>
          </a:bodyPr>
          <a:lstStyle/>
          <a:p>
            <a:pPr algn="l"/>
            <a:r>
              <a:rPr sz="1000" b="1" i="0">
                <a:solidFill>
                  <a:srgbClr val="4A90D9"/>
                </a:solidFill>
                <a:latin typeface="Calibri"/>
              </a:rPr>
              <a:t>API Layer</a:t>
            </a:r>
          </a:p>
        </p:txBody>
      </p:sp>
      <p:sp>
        <p:nvSpPr>
          <p:cNvPr id="24" name="TextBox 23"/>
          <p:cNvSpPr txBox="1"/>
          <p:nvPr/>
        </p:nvSpPr>
        <p:spPr>
          <a:xfrm>
            <a:off x="6492240" y="3767328"/>
            <a:ext cx="5212080" cy="777240"/>
          </a:xfrm>
          <a:prstGeom prst="rect">
            <a:avLst/>
          </a:prstGeom>
          <a:noFill/>
        </p:spPr>
        <p:txBody>
          <a:bodyPr wrap="square">
            <a:spAutoFit/>
          </a:bodyPr>
          <a:lstStyle/>
          <a:p>
            <a:pPr algn="l"/>
            <a:r>
              <a:rPr sz="1000" b="0" i="0">
                <a:solidFill>
                  <a:srgbClr val="55657A"/>
                </a:solidFill>
                <a:latin typeface="Calibri"/>
              </a:rPr>
              <a:t>Open-source backend framework that Back4App is built on. The Flutter app communicates with it using the parse_server_sdk_flutter package.</a:t>
            </a:r>
          </a:p>
        </p:txBody>
      </p:sp>
      <p:sp>
        <p:nvSpPr>
          <p:cNvPr id="25" name="Rectangle 24"/>
          <p:cNvSpPr/>
          <p:nvPr/>
        </p:nvSpPr>
        <p:spPr>
          <a:xfrm>
            <a:off x="365760" y="4846320"/>
            <a:ext cx="5577840" cy="1600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365760" y="4846320"/>
            <a:ext cx="73152" cy="16002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94360" y="4956048"/>
            <a:ext cx="2743200" cy="347472"/>
          </a:xfrm>
          <a:prstGeom prst="rect">
            <a:avLst/>
          </a:prstGeom>
          <a:noFill/>
        </p:spPr>
        <p:txBody>
          <a:bodyPr wrap="square">
            <a:spAutoFit/>
          </a:bodyPr>
          <a:lstStyle/>
          <a:p>
            <a:pPr algn="l"/>
            <a:r>
              <a:rPr sz="1400" b="1" i="0">
                <a:solidFill>
                  <a:srgbClr val="1E2761"/>
                </a:solidFill>
                <a:latin typeface="Calibri"/>
              </a:rPr>
              <a:t>GitHub</a:t>
            </a:r>
          </a:p>
        </p:txBody>
      </p:sp>
      <p:sp>
        <p:nvSpPr>
          <p:cNvPr id="28" name="TextBox 27"/>
          <p:cNvSpPr txBox="1"/>
          <p:nvPr/>
        </p:nvSpPr>
        <p:spPr>
          <a:xfrm>
            <a:off x="594360" y="5303520"/>
            <a:ext cx="5029200" cy="256032"/>
          </a:xfrm>
          <a:prstGeom prst="rect">
            <a:avLst/>
          </a:prstGeom>
          <a:noFill/>
        </p:spPr>
        <p:txBody>
          <a:bodyPr wrap="square">
            <a:spAutoFit/>
          </a:bodyPr>
          <a:lstStyle/>
          <a:p>
            <a:pPr algn="l"/>
            <a:r>
              <a:rPr sz="1000" b="1" i="0">
                <a:solidFill>
                  <a:srgbClr val="4A90D9"/>
                </a:solidFill>
                <a:latin typeface="Calibri"/>
              </a:rPr>
              <a:t>Version Control</a:t>
            </a:r>
          </a:p>
        </p:txBody>
      </p:sp>
      <p:sp>
        <p:nvSpPr>
          <p:cNvPr id="29" name="TextBox 28"/>
          <p:cNvSpPr txBox="1"/>
          <p:nvPr/>
        </p:nvSpPr>
        <p:spPr>
          <a:xfrm>
            <a:off x="594360" y="5596128"/>
            <a:ext cx="5212080" cy="777240"/>
          </a:xfrm>
          <a:prstGeom prst="rect">
            <a:avLst/>
          </a:prstGeom>
          <a:noFill/>
        </p:spPr>
        <p:txBody>
          <a:bodyPr wrap="square">
            <a:spAutoFit/>
          </a:bodyPr>
          <a:lstStyle/>
          <a:p>
            <a:pPr algn="l"/>
            <a:r>
              <a:rPr sz="1000" b="0" i="0">
                <a:solidFill>
                  <a:srgbClr val="55657A"/>
                </a:solidFill>
                <a:latin typeface="Calibri"/>
              </a:rPr>
              <a:t>Used to host the project repository with a proper README, commit history, and source code accessible for evaluation.</a:t>
            </a:r>
          </a:p>
        </p:txBody>
      </p:sp>
      <p:sp>
        <p:nvSpPr>
          <p:cNvPr id="30" name="Rectangle 29"/>
          <p:cNvSpPr/>
          <p:nvPr/>
        </p:nvSpPr>
        <p:spPr>
          <a:xfrm>
            <a:off x="6263640" y="4846320"/>
            <a:ext cx="5577840" cy="1600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6263640" y="4846320"/>
            <a:ext cx="73152" cy="160020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492240" y="4956048"/>
            <a:ext cx="2743200" cy="347472"/>
          </a:xfrm>
          <a:prstGeom prst="rect">
            <a:avLst/>
          </a:prstGeom>
          <a:noFill/>
        </p:spPr>
        <p:txBody>
          <a:bodyPr wrap="square">
            <a:spAutoFit/>
          </a:bodyPr>
          <a:lstStyle/>
          <a:p>
            <a:pPr algn="l"/>
            <a:r>
              <a:rPr sz="1400" b="1" i="0">
                <a:solidFill>
                  <a:srgbClr val="1E2761"/>
                </a:solidFill>
                <a:latin typeface="Calibri"/>
              </a:rPr>
              <a:t>Android Studio</a:t>
            </a:r>
          </a:p>
        </p:txBody>
      </p:sp>
      <p:sp>
        <p:nvSpPr>
          <p:cNvPr id="33" name="TextBox 32"/>
          <p:cNvSpPr txBox="1"/>
          <p:nvPr/>
        </p:nvSpPr>
        <p:spPr>
          <a:xfrm>
            <a:off x="6492240" y="5303520"/>
            <a:ext cx="5029200" cy="256032"/>
          </a:xfrm>
          <a:prstGeom prst="rect">
            <a:avLst/>
          </a:prstGeom>
          <a:noFill/>
        </p:spPr>
        <p:txBody>
          <a:bodyPr wrap="square">
            <a:spAutoFit/>
          </a:bodyPr>
          <a:lstStyle/>
          <a:p>
            <a:pPr algn="l"/>
            <a:r>
              <a:rPr sz="1000" b="1" i="0">
                <a:solidFill>
                  <a:srgbClr val="4A90D9"/>
                </a:solidFill>
                <a:latin typeface="Calibri"/>
              </a:rPr>
              <a:t>Development Tool</a:t>
            </a:r>
          </a:p>
        </p:txBody>
      </p:sp>
      <p:sp>
        <p:nvSpPr>
          <p:cNvPr id="34" name="TextBox 33"/>
          <p:cNvSpPr txBox="1"/>
          <p:nvPr/>
        </p:nvSpPr>
        <p:spPr>
          <a:xfrm>
            <a:off x="6492240" y="5596128"/>
            <a:ext cx="5212080" cy="777240"/>
          </a:xfrm>
          <a:prstGeom prst="rect">
            <a:avLst/>
          </a:prstGeom>
          <a:noFill/>
        </p:spPr>
        <p:txBody>
          <a:bodyPr wrap="square">
            <a:spAutoFit/>
          </a:bodyPr>
          <a:lstStyle/>
          <a:p>
            <a:pPr algn="l"/>
            <a:r>
              <a:rPr sz="1000" b="0" i="0">
                <a:solidFill>
                  <a:srgbClr val="55657A"/>
                </a:solidFill>
                <a:latin typeface="Calibri"/>
              </a:rPr>
              <a:t>Provides the Android SDK, emulator, and device management tools required to build and test the Flutter application.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64592"/>
            <a:ext cx="9144000" cy="640080"/>
          </a:xfrm>
          <a:prstGeom prst="rect">
            <a:avLst/>
          </a:prstGeom>
          <a:noFill/>
        </p:spPr>
        <p:txBody>
          <a:bodyPr wrap="square">
            <a:spAutoFit/>
          </a:bodyPr>
          <a:lstStyle/>
          <a:p>
            <a:pPr algn="l"/>
            <a:r>
              <a:rPr sz="2600" b="1" i="0">
                <a:solidFill>
                  <a:srgbClr val="FFFFFF"/>
                </a:solidFill>
                <a:latin typeface="Calibri"/>
              </a:rPr>
              <a:t>Application Flow and Architecture</a:t>
            </a:r>
          </a:p>
        </p:txBody>
      </p:sp>
      <p:sp>
        <p:nvSpPr>
          <p:cNvPr id="4" name="TextBox 3"/>
          <p:cNvSpPr txBox="1"/>
          <p:nvPr/>
        </p:nvSpPr>
        <p:spPr>
          <a:xfrm>
            <a:off x="457200" y="640080"/>
            <a:ext cx="9144000" cy="320040"/>
          </a:xfrm>
          <a:prstGeom prst="rect">
            <a:avLst/>
          </a:prstGeom>
          <a:noFill/>
        </p:spPr>
        <p:txBody>
          <a:bodyPr wrap="square">
            <a:spAutoFit/>
          </a:bodyPr>
          <a:lstStyle/>
          <a:p>
            <a:pPr algn="l"/>
            <a:r>
              <a:rPr sz="1100" b="0" i="0">
                <a:solidFill>
                  <a:srgbClr val="CADCFC"/>
                </a:solidFill>
                <a:latin typeface="Calibri"/>
              </a:rPr>
              <a:t>How the user journey and data flow are structured</a:t>
            </a:r>
          </a:p>
        </p:txBody>
      </p:sp>
      <p:sp>
        <p:nvSpPr>
          <p:cNvPr id="5" name="Rectangle 4"/>
          <p:cNvSpPr/>
          <p:nvPr/>
        </p:nvSpPr>
        <p:spPr>
          <a:xfrm>
            <a:off x="365760" y="1234440"/>
            <a:ext cx="3520440" cy="2286000"/>
          </a:xfrm>
          <a:prstGeom prst="rect">
            <a:avLst/>
          </a:prstGeom>
          <a:solidFill>
            <a:srgbClr val="2E3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30352" y="1417320"/>
            <a:ext cx="411480" cy="41148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30352" y="1417320"/>
            <a:ext cx="411480" cy="411480"/>
          </a:xfrm>
          <a:prstGeom prst="rect">
            <a:avLst/>
          </a:prstGeom>
          <a:noFill/>
        </p:spPr>
        <p:txBody>
          <a:bodyPr wrap="square">
            <a:spAutoFit/>
          </a:bodyPr>
          <a:lstStyle/>
          <a:p>
            <a:pPr algn="ctr"/>
            <a:r>
              <a:rPr sz="1400" b="1" i="0">
                <a:solidFill>
                  <a:srgbClr val="FFFFFF"/>
                </a:solidFill>
                <a:latin typeface="Calibri"/>
              </a:rPr>
              <a:t>1</a:t>
            </a:r>
          </a:p>
        </p:txBody>
      </p:sp>
      <p:sp>
        <p:nvSpPr>
          <p:cNvPr id="8" name="TextBox 7"/>
          <p:cNvSpPr txBox="1"/>
          <p:nvPr/>
        </p:nvSpPr>
        <p:spPr>
          <a:xfrm>
            <a:off x="1051560" y="1453896"/>
            <a:ext cx="2651760" cy="347472"/>
          </a:xfrm>
          <a:prstGeom prst="rect">
            <a:avLst/>
          </a:prstGeom>
          <a:noFill/>
        </p:spPr>
        <p:txBody>
          <a:bodyPr wrap="square">
            <a:spAutoFit/>
          </a:bodyPr>
          <a:lstStyle/>
          <a:p>
            <a:pPr algn="l"/>
            <a:r>
              <a:rPr sz="1200" b="1" i="0">
                <a:solidFill>
                  <a:srgbClr val="FFFFFF"/>
                </a:solidFill>
                <a:latin typeface="Calibri"/>
              </a:rPr>
              <a:t>App Launch</a:t>
            </a:r>
          </a:p>
        </p:txBody>
      </p:sp>
      <p:sp>
        <p:nvSpPr>
          <p:cNvPr id="9" name="TextBox 8"/>
          <p:cNvSpPr txBox="1"/>
          <p:nvPr/>
        </p:nvSpPr>
        <p:spPr>
          <a:xfrm>
            <a:off x="530352" y="1984248"/>
            <a:ext cx="3200400" cy="1417320"/>
          </a:xfrm>
          <a:prstGeom prst="rect">
            <a:avLst/>
          </a:prstGeom>
          <a:noFill/>
        </p:spPr>
        <p:txBody>
          <a:bodyPr wrap="square">
            <a:spAutoFit/>
          </a:bodyPr>
          <a:lstStyle/>
          <a:p>
            <a:pPr algn="l"/>
            <a:r>
              <a:rPr sz="1000" b="0" i="0">
                <a:solidFill>
                  <a:srgbClr val="CADCFC"/>
                </a:solidFill>
                <a:latin typeface="Calibri"/>
              </a:rPr>
              <a:t>Application checks for an existing session token stored locally. If found and valid, the user is taken directly to the task list.</a:t>
            </a:r>
          </a:p>
        </p:txBody>
      </p:sp>
      <p:sp>
        <p:nvSpPr>
          <p:cNvPr id="10" name="Rectangle 9"/>
          <p:cNvSpPr/>
          <p:nvPr/>
        </p:nvSpPr>
        <p:spPr>
          <a:xfrm>
            <a:off x="3959352" y="2240280"/>
            <a:ext cx="310896" cy="54864"/>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4233672" y="2167128"/>
            <a:ext cx="164592" cy="201168"/>
          </a:xfrm>
          <a:prstGeom prst="round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297680" y="1234440"/>
            <a:ext cx="3520440" cy="2286000"/>
          </a:xfrm>
          <a:prstGeom prst="rect">
            <a:avLst/>
          </a:prstGeom>
          <a:solidFill>
            <a:srgbClr val="2E3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462272" y="1417320"/>
            <a:ext cx="411480" cy="41148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462272" y="1417320"/>
            <a:ext cx="411480" cy="411480"/>
          </a:xfrm>
          <a:prstGeom prst="rect">
            <a:avLst/>
          </a:prstGeom>
          <a:noFill/>
        </p:spPr>
        <p:txBody>
          <a:bodyPr wrap="square">
            <a:spAutoFit/>
          </a:bodyPr>
          <a:lstStyle/>
          <a:p>
            <a:pPr algn="ctr"/>
            <a:r>
              <a:rPr sz="1400" b="1" i="0">
                <a:solidFill>
                  <a:srgbClr val="FFFFFF"/>
                </a:solidFill>
                <a:latin typeface="Calibri"/>
              </a:rPr>
              <a:t>2</a:t>
            </a:r>
          </a:p>
        </p:txBody>
      </p:sp>
      <p:sp>
        <p:nvSpPr>
          <p:cNvPr id="15" name="TextBox 14"/>
          <p:cNvSpPr txBox="1"/>
          <p:nvPr/>
        </p:nvSpPr>
        <p:spPr>
          <a:xfrm>
            <a:off x="4983480" y="1453896"/>
            <a:ext cx="2651760" cy="347472"/>
          </a:xfrm>
          <a:prstGeom prst="rect">
            <a:avLst/>
          </a:prstGeom>
          <a:noFill/>
        </p:spPr>
        <p:txBody>
          <a:bodyPr wrap="square">
            <a:spAutoFit/>
          </a:bodyPr>
          <a:lstStyle/>
          <a:p>
            <a:pPr algn="l"/>
            <a:r>
              <a:rPr sz="1200" b="1" i="0">
                <a:solidFill>
                  <a:srgbClr val="FFFFFF"/>
                </a:solidFill>
                <a:latin typeface="Calibri"/>
              </a:rPr>
              <a:t>Registration</a:t>
            </a:r>
          </a:p>
        </p:txBody>
      </p:sp>
      <p:sp>
        <p:nvSpPr>
          <p:cNvPr id="16" name="TextBox 15"/>
          <p:cNvSpPr txBox="1"/>
          <p:nvPr/>
        </p:nvSpPr>
        <p:spPr>
          <a:xfrm>
            <a:off x="4462272" y="1984248"/>
            <a:ext cx="3200400" cy="1417320"/>
          </a:xfrm>
          <a:prstGeom prst="rect">
            <a:avLst/>
          </a:prstGeom>
          <a:noFill/>
        </p:spPr>
        <p:txBody>
          <a:bodyPr wrap="square">
            <a:spAutoFit/>
          </a:bodyPr>
          <a:lstStyle/>
          <a:p>
            <a:pPr algn="l"/>
            <a:r>
              <a:rPr sz="1000" b="0" i="0">
                <a:solidFill>
                  <a:srgbClr val="CADCFC"/>
                </a:solidFill>
                <a:latin typeface="Calibri"/>
              </a:rPr>
              <a:t>New users enter their name, college email, and password. Credentials are sent to Back4App and stored securely using Parse's built-in user system.</a:t>
            </a:r>
          </a:p>
        </p:txBody>
      </p:sp>
      <p:sp>
        <p:nvSpPr>
          <p:cNvPr id="17" name="Rectangle 16"/>
          <p:cNvSpPr/>
          <p:nvPr/>
        </p:nvSpPr>
        <p:spPr>
          <a:xfrm>
            <a:off x="7891272" y="2240280"/>
            <a:ext cx="310896" cy="54864"/>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8165592" y="2167128"/>
            <a:ext cx="164592" cy="201168"/>
          </a:xfrm>
          <a:prstGeom prst="round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229600" y="1234440"/>
            <a:ext cx="3520440" cy="2286000"/>
          </a:xfrm>
          <a:prstGeom prst="rect">
            <a:avLst/>
          </a:prstGeom>
          <a:solidFill>
            <a:srgbClr val="2E3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394192" y="1417320"/>
            <a:ext cx="411480" cy="41148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394192" y="1417320"/>
            <a:ext cx="411480" cy="411480"/>
          </a:xfrm>
          <a:prstGeom prst="rect">
            <a:avLst/>
          </a:prstGeom>
          <a:noFill/>
        </p:spPr>
        <p:txBody>
          <a:bodyPr wrap="square">
            <a:spAutoFit/>
          </a:bodyPr>
          <a:lstStyle/>
          <a:p>
            <a:pPr algn="ctr"/>
            <a:r>
              <a:rPr sz="1400" b="1" i="0">
                <a:solidFill>
                  <a:srgbClr val="FFFFFF"/>
                </a:solidFill>
                <a:latin typeface="Calibri"/>
              </a:rPr>
              <a:t>3</a:t>
            </a:r>
          </a:p>
        </p:txBody>
      </p:sp>
      <p:sp>
        <p:nvSpPr>
          <p:cNvPr id="22" name="TextBox 21"/>
          <p:cNvSpPr txBox="1"/>
          <p:nvPr/>
        </p:nvSpPr>
        <p:spPr>
          <a:xfrm>
            <a:off x="8915400" y="1453896"/>
            <a:ext cx="2651760" cy="347472"/>
          </a:xfrm>
          <a:prstGeom prst="rect">
            <a:avLst/>
          </a:prstGeom>
          <a:noFill/>
        </p:spPr>
        <p:txBody>
          <a:bodyPr wrap="square">
            <a:spAutoFit/>
          </a:bodyPr>
          <a:lstStyle/>
          <a:p>
            <a:pPr algn="l"/>
            <a:r>
              <a:rPr sz="1200" b="1" i="0">
                <a:solidFill>
                  <a:srgbClr val="FFFFFF"/>
                </a:solidFill>
                <a:latin typeface="Calibri"/>
              </a:rPr>
              <a:t>Login</a:t>
            </a:r>
          </a:p>
        </p:txBody>
      </p:sp>
      <p:sp>
        <p:nvSpPr>
          <p:cNvPr id="23" name="TextBox 22"/>
          <p:cNvSpPr txBox="1"/>
          <p:nvPr/>
        </p:nvSpPr>
        <p:spPr>
          <a:xfrm>
            <a:off x="8394192" y="1984248"/>
            <a:ext cx="3200400" cy="1417320"/>
          </a:xfrm>
          <a:prstGeom prst="rect">
            <a:avLst/>
          </a:prstGeom>
          <a:noFill/>
        </p:spPr>
        <p:txBody>
          <a:bodyPr wrap="square">
            <a:spAutoFit/>
          </a:bodyPr>
          <a:lstStyle/>
          <a:p>
            <a:pPr algn="l"/>
            <a:r>
              <a:rPr sz="1000" b="0" i="0">
                <a:solidFill>
                  <a:srgbClr val="CADCFC"/>
                </a:solidFill>
                <a:latin typeface="Calibri"/>
              </a:rPr>
              <a:t>Existing users authenticate with their email and password. A session token is issued by Back4App and stored on the device.</a:t>
            </a:r>
          </a:p>
        </p:txBody>
      </p:sp>
      <p:sp>
        <p:nvSpPr>
          <p:cNvPr id="24" name="Rectangle 23"/>
          <p:cNvSpPr/>
          <p:nvPr/>
        </p:nvSpPr>
        <p:spPr>
          <a:xfrm>
            <a:off x="365760" y="3794760"/>
            <a:ext cx="3520440" cy="2286000"/>
          </a:xfrm>
          <a:prstGeom prst="rect">
            <a:avLst/>
          </a:prstGeom>
          <a:solidFill>
            <a:srgbClr val="2E3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30352" y="3977640"/>
            <a:ext cx="411480" cy="41148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30352" y="3977640"/>
            <a:ext cx="411480" cy="411480"/>
          </a:xfrm>
          <a:prstGeom prst="rect">
            <a:avLst/>
          </a:prstGeom>
          <a:noFill/>
        </p:spPr>
        <p:txBody>
          <a:bodyPr wrap="square">
            <a:spAutoFit/>
          </a:bodyPr>
          <a:lstStyle/>
          <a:p>
            <a:pPr algn="ctr"/>
            <a:r>
              <a:rPr sz="1400" b="1" i="0">
                <a:solidFill>
                  <a:srgbClr val="FFFFFF"/>
                </a:solidFill>
                <a:latin typeface="Calibri"/>
              </a:rPr>
              <a:t>4</a:t>
            </a:r>
          </a:p>
        </p:txBody>
      </p:sp>
      <p:sp>
        <p:nvSpPr>
          <p:cNvPr id="27" name="TextBox 26"/>
          <p:cNvSpPr txBox="1"/>
          <p:nvPr/>
        </p:nvSpPr>
        <p:spPr>
          <a:xfrm>
            <a:off x="1051560" y="4014216"/>
            <a:ext cx="2651760" cy="347472"/>
          </a:xfrm>
          <a:prstGeom prst="rect">
            <a:avLst/>
          </a:prstGeom>
          <a:noFill/>
        </p:spPr>
        <p:txBody>
          <a:bodyPr wrap="square">
            <a:spAutoFit/>
          </a:bodyPr>
          <a:lstStyle/>
          <a:p>
            <a:pPr algn="l"/>
            <a:r>
              <a:rPr sz="1200" b="1" i="0">
                <a:solidFill>
                  <a:srgbClr val="FFFFFF"/>
                </a:solidFill>
                <a:latin typeface="Calibri"/>
              </a:rPr>
              <a:t>Task List</a:t>
            </a:r>
          </a:p>
        </p:txBody>
      </p:sp>
      <p:sp>
        <p:nvSpPr>
          <p:cNvPr id="28" name="TextBox 27"/>
          <p:cNvSpPr txBox="1"/>
          <p:nvPr/>
        </p:nvSpPr>
        <p:spPr>
          <a:xfrm>
            <a:off x="530352" y="4544568"/>
            <a:ext cx="3200400" cy="1417320"/>
          </a:xfrm>
          <a:prstGeom prst="rect">
            <a:avLst/>
          </a:prstGeom>
          <a:noFill/>
        </p:spPr>
        <p:txBody>
          <a:bodyPr wrap="square">
            <a:spAutoFit/>
          </a:bodyPr>
          <a:lstStyle/>
          <a:p>
            <a:pPr algn="l"/>
            <a:r>
              <a:rPr sz="1000" b="0" i="0">
                <a:solidFill>
                  <a:srgbClr val="CADCFC"/>
                </a:solidFill>
                <a:latin typeface="Calibri"/>
              </a:rPr>
              <a:t>The home screen fetches all tasks belonging to the logged-in user from the Back4App cloud database and displays them in a sorted list.</a:t>
            </a:r>
          </a:p>
        </p:txBody>
      </p:sp>
      <p:sp>
        <p:nvSpPr>
          <p:cNvPr id="29" name="Rectangle 28"/>
          <p:cNvSpPr/>
          <p:nvPr/>
        </p:nvSpPr>
        <p:spPr>
          <a:xfrm>
            <a:off x="3959352" y="4800600"/>
            <a:ext cx="310896" cy="54864"/>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4233672" y="4727448"/>
            <a:ext cx="164592" cy="201168"/>
          </a:xfrm>
          <a:prstGeom prst="round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4297680" y="3794760"/>
            <a:ext cx="3520440" cy="2286000"/>
          </a:xfrm>
          <a:prstGeom prst="rect">
            <a:avLst/>
          </a:prstGeom>
          <a:solidFill>
            <a:srgbClr val="2E3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4462272" y="3977640"/>
            <a:ext cx="411480" cy="41148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462272" y="3977640"/>
            <a:ext cx="411480" cy="411480"/>
          </a:xfrm>
          <a:prstGeom prst="rect">
            <a:avLst/>
          </a:prstGeom>
          <a:noFill/>
        </p:spPr>
        <p:txBody>
          <a:bodyPr wrap="square">
            <a:spAutoFit/>
          </a:bodyPr>
          <a:lstStyle/>
          <a:p>
            <a:pPr algn="ctr"/>
            <a:r>
              <a:rPr sz="1400" b="1" i="0">
                <a:solidFill>
                  <a:srgbClr val="FFFFFF"/>
                </a:solidFill>
                <a:latin typeface="Calibri"/>
              </a:rPr>
              <a:t>5</a:t>
            </a:r>
          </a:p>
        </p:txBody>
      </p:sp>
      <p:sp>
        <p:nvSpPr>
          <p:cNvPr id="34" name="TextBox 33"/>
          <p:cNvSpPr txBox="1"/>
          <p:nvPr/>
        </p:nvSpPr>
        <p:spPr>
          <a:xfrm>
            <a:off x="4983480" y="4014216"/>
            <a:ext cx="2651760" cy="347472"/>
          </a:xfrm>
          <a:prstGeom prst="rect">
            <a:avLst/>
          </a:prstGeom>
          <a:noFill/>
        </p:spPr>
        <p:txBody>
          <a:bodyPr wrap="square">
            <a:spAutoFit/>
          </a:bodyPr>
          <a:lstStyle/>
          <a:p>
            <a:pPr algn="l"/>
            <a:r>
              <a:rPr sz="1200" b="1" i="0">
                <a:solidFill>
                  <a:srgbClr val="FFFFFF"/>
                </a:solidFill>
                <a:latin typeface="Calibri"/>
              </a:rPr>
              <a:t>CRUD Actions</a:t>
            </a:r>
          </a:p>
        </p:txBody>
      </p:sp>
      <p:sp>
        <p:nvSpPr>
          <p:cNvPr id="35" name="TextBox 34"/>
          <p:cNvSpPr txBox="1"/>
          <p:nvPr/>
        </p:nvSpPr>
        <p:spPr>
          <a:xfrm>
            <a:off x="4462272" y="4544568"/>
            <a:ext cx="3200400" cy="1417320"/>
          </a:xfrm>
          <a:prstGeom prst="rect">
            <a:avLst/>
          </a:prstGeom>
          <a:noFill/>
        </p:spPr>
        <p:txBody>
          <a:bodyPr wrap="square">
            <a:spAutoFit/>
          </a:bodyPr>
          <a:lstStyle/>
          <a:p>
            <a:pPr algn="l"/>
            <a:r>
              <a:rPr sz="1000" b="0" i="0">
                <a:solidFill>
                  <a:srgbClr val="CADCFC"/>
                </a:solidFill>
                <a:latin typeface="Calibri"/>
              </a:rPr>
              <a:t>Users can create new tasks, edit existing ones, toggle completion status, or swipe to delete. Each action immediately updates the cloud database.</a:t>
            </a:r>
          </a:p>
        </p:txBody>
      </p:sp>
      <p:sp>
        <p:nvSpPr>
          <p:cNvPr id="36" name="Rectangle 35"/>
          <p:cNvSpPr/>
          <p:nvPr/>
        </p:nvSpPr>
        <p:spPr>
          <a:xfrm>
            <a:off x="7891272" y="4800600"/>
            <a:ext cx="310896" cy="54864"/>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ounded Rectangle 36"/>
          <p:cNvSpPr/>
          <p:nvPr/>
        </p:nvSpPr>
        <p:spPr>
          <a:xfrm>
            <a:off x="8165592" y="4727448"/>
            <a:ext cx="164592" cy="201168"/>
          </a:xfrm>
          <a:prstGeom prst="round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8229600" y="3794760"/>
            <a:ext cx="3520440" cy="2286000"/>
          </a:xfrm>
          <a:prstGeom prst="rect">
            <a:avLst/>
          </a:prstGeom>
          <a:solidFill>
            <a:srgbClr val="2E3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8394192" y="3977640"/>
            <a:ext cx="411480" cy="41148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394192" y="3977640"/>
            <a:ext cx="411480" cy="411480"/>
          </a:xfrm>
          <a:prstGeom prst="rect">
            <a:avLst/>
          </a:prstGeom>
          <a:noFill/>
        </p:spPr>
        <p:txBody>
          <a:bodyPr wrap="square">
            <a:spAutoFit/>
          </a:bodyPr>
          <a:lstStyle/>
          <a:p>
            <a:pPr algn="ctr"/>
            <a:r>
              <a:rPr sz="1400" b="1" i="0">
                <a:solidFill>
                  <a:srgbClr val="FFFFFF"/>
                </a:solidFill>
                <a:latin typeface="Calibri"/>
              </a:rPr>
              <a:t>6</a:t>
            </a:r>
          </a:p>
        </p:txBody>
      </p:sp>
      <p:sp>
        <p:nvSpPr>
          <p:cNvPr id="41" name="TextBox 40"/>
          <p:cNvSpPr txBox="1"/>
          <p:nvPr/>
        </p:nvSpPr>
        <p:spPr>
          <a:xfrm>
            <a:off x="8915400" y="4014216"/>
            <a:ext cx="2651760" cy="347472"/>
          </a:xfrm>
          <a:prstGeom prst="rect">
            <a:avLst/>
          </a:prstGeom>
          <a:noFill/>
        </p:spPr>
        <p:txBody>
          <a:bodyPr wrap="square">
            <a:spAutoFit/>
          </a:bodyPr>
          <a:lstStyle/>
          <a:p>
            <a:pPr algn="l"/>
            <a:r>
              <a:rPr sz="1200" b="1" i="0">
                <a:solidFill>
                  <a:srgbClr val="FFFFFF"/>
                </a:solidFill>
                <a:latin typeface="Calibri"/>
              </a:rPr>
              <a:t>Logout</a:t>
            </a:r>
          </a:p>
        </p:txBody>
      </p:sp>
      <p:sp>
        <p:nvSpPr>
          <p:cNvPr id="42" name="TextBox 41"/>
          <p:cNvSpPr txBox="1"/>
          <p:nvPr/>
        </p:nvSpPr>
        <p:spPr>
          <a:xfrm>
            <a:off x="8394192" y="4544568"/>
            <a:ext cx="3200400" cy="1417320"/>
          </a:xfrm>
          <a:prstGeom prst="rect">
            <a:avLst/>
          </a:prstGeom>
          <a:noFill/>
        </p:spPr>
        <p:txBody>
          <a:bodyPr wrap="square">
            <a:spAutoFit/>
          </a:bodyPr>
          <a:lstStyle/>
          <a:p>
            <a:pPr algn="l"/>
            <a:r>
              <a:rPr sz="1000" b="0" i="0">
                <a:solidFill>
                  <a:srgbClr val="CADCFC"/>
                </a:solidFill>
                <a:latin typeface="Calibri"/>
              </a:rPr>
              <a:t>The session is invalidated on the Back4App server. The user is redirected to the login screen and cannot access tasks without re-authenticating.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64592"/>
            <a:ext cx="9144000" cy="640080"/>
          </a:xfrm>
          <a:prstGeom prst="rect">
            <a:avLst/>
          </a:prstGeom>
          <a:noFill/>
        </p:spPr>
        <p:txBody>
          <a:bodyPr wrap="square">
            <a:spAutoFit/>
          </a:bodyPr>
          <a:lstStyle/>
          <a:p>
            <a:pPr algn="l"/>
            <a:r>
              <a:rPr sz="2600" b="1" i="0">
                <a:solidFill>
                  <a:srgbClr val="FFFFFF"/>
                </a:solidFill>
                <a:latin typeface="Calibri"/>
              </a:rPr>
              <a:t>CRUD Operations</a:t>
            </a:r>
          </a:p>
        </p:txBody>
      </p:sp>
      <p:sp>
        <p:nvSpPr>
          <p:cNvPr id="4" name="TextBox 3"/>
          <p:cNvSpPr txBox="1"/>
          <p:nvPr/>
        </p:nvSpPr>
        <p:spPr>
          <a:xfrm>
            <a:off x="457200" y="640080"/>
            <a:ext cx="9144000" cy="320040"/>
          </a:xfrm>
          <a:prstGeom prst="rect">
            <a:avLst/>
          </a:prstGeom>
          <a:noFill/>
        </p:spPr>
        <p:txBody>
          <a:bodyPr wrap="square">
            <a:spAutoFit/>
          </a:bodyPr>
          <a:lstStyle/>
          <a:p>
            <a:pPr algn="l"/>
            <a:r>
              <a:rPr sz="1100" b="0" i="0">
                <a:solidFill>
                  <a:srgbClr val="CADCFC"/>
                </a:solidFill>
                <a:latin typeface="Calibri"/>
              </a:rPr>
              <a:t>How each database operation is implemented using the Parse SDK and Back4App</a:t>
            </a:r>
          </a:p>
        </p:txBody>
      </p:sp>
      <p:sp>
        <p:nvSpPr>
          <p:cNvPr id="5" name="Rectangle 4"/>
          <p:cNvSpPr/>
          <p:nvPr/>
        </p:nvSpPr>
        <p:spPr>
          <a:xfrm>
            <a:off x="365760" y="1188720"/>
            <a:ext cx="1097280" cy="114300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65760" y="1508760"/>
            <a:ext cx="1097280" cy="502920"/>
          </a:xfrm>
          <a:prstGeom prst="rect">
            <a:avLst/>
          </a:prstGeom>
          <a:noFill/>
        </p:spPr>
        <p:txBody>
          <a:bodyPr wrap="square">
            <a:spAutoFit/>
          </a:bodyPr>
          <a:lstStyle/>
          <a:p>
            <a:pPr algn="ctr"/>
            <a:r>
              <a:rPr sz="1300" b="1" i="0">
                <a:solidFill>
                  <a:srgbClr val="FFFFFF"/>
                </a:solidFill>
                <a:latin typeface="Calibri"/>
              </a:rPr>
              <a:t>CREATE</a:t>
            </a:r>
          </a:p>
        </p:txBody>
      </p:sp>
      <p:sp>
        <p:nvSpPr>
          <p:cNvPr id="7" name="Rectangle 6"/>
          <p:cNvSpPr/>
          <p:nvPr/>
        </p:nvSpPr>
        <p:spPr>
          <a:xfrm>
            <a:off x="1463040" y="1188720"/>
            <a:ext cx="10058400" cy="1143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463040" y="1188720"/>
            <a:ext cx="54864" cy="114300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645920" y="1280160"/>
            <a:ext cx="2743200" cy="320040"/>
          </a:xfrm>
          <a:prstGeom prst="rect">
            <a:avLst/>
          </a:prstGeom>
          <a:noFill/>
        </p:spPr>
        <p:txBody>
          <a:bodyPr wrap="square">
            <a:spAutoFit/>
          </a:bodyPr>
          <a:lstStyle/>
          <a:p>
            <a:pPr algn="l"/>
            <a:r>
              <a:rPr sz="1200" b="1" i="0">
                <a:solidFill>
                  <a:srgbClr val="1E2761"/>
                </a:solidFill>
                <a:latin typeface="Calibri"/>
              </a:rPr>
              <a:t>New Task</a:t>
            </a:r>
          </a:p>
        </p:txBody>
      </p:sp>
      <p:sp>
        <p:nvSpPr>
          <p:cNvPr id="10" name="TextBox 9"/>
          <p:cNvSpPr txBox="1"/>
          <p:nvPr/>
        </p:nvSpPr>
        <p:spPr>
          <a:xfrm>
            <a:off x="1645920" y="1645920"/>
            <a:ext cx="9692640" cy="621792"/>
          </a:xfrm>
          <a:prstGeom prst="rect">
            <a:avLst/>
          </a:prstGeom>
          <a:noFill/>
        </p:spPr>
        <p:txBody>
          <a:bodyPr wrap="square">
            <a:spAutoFit/>
          </a:bodyPr>
          <a:lstStyle/>
          <a:p>
            <a:pPr algn="l"/>
            <a:r>
              <a:rPr sz="1050" b="0" i="0">
                <a:solidFill>
                  <a:srgbClr val="55657A"/>
                </a:solidFill>
                <a:latin typeface="Calibri"/>
              </a:rPr>
              <a:t>User fills in the task title, description, and priority on the task form screen. On submission, a ParseObject of class Task is created with the user pointer and ACL set, then saved to Back4App using parseObj.save(). The task appears in the list immediately after the cloud confirms the write.</a:t>
            </a:r>
          </a:p>
        </p:txBody>
      </p:sp>
      <p:sp>
        <p:nvSpPr>
          <p:cNvPr id="11" name="Rectangle 10"/>
          <p:cNvSpPr/>
          <p:nvPr/>
        </p:nvSpPr>
        <p:spPr>
          <a:xfrm>
            <a:off x="365760" y="2560320"/>
            <a:ext cx="1097280" cy="11430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65760" y="2880360"/>
            <a:ext cx="1097280" cy="502920"/>
          </a:xfrm>
          <a:prstGeom prst="rect">
            <a:avLst/>
          </a:prstGeom>
          <a:noFill/>
        </p:spPr>
        <p:txBody>
          <a:bodyPr wrap="square">
            <a:spAutoFit/>
          </a:bodyPr>
          <a:lstStyle/>
          <a:p>
            <a:pPr algn="ctr"/>
            <a:r>
              <a:rPr sz="1300" b="1" i="0">
                <a:solidFill>
                  <a:srgbClr val="FFFFFF"/>
                </a:solidFill>
                <a:latin typeface="Calibri"/>
              </a:rPr>
              <a:t>READ</a:t>
            </a:r>
          </a:p>
        </p:txBody>
      </p:sp>
      <p:sp>
        <p:nvSpPr>
          <p:cNvPr id="13" name="Rectangle 12"/>
          <p:cNvSpPr/>
          <p:nvPr/>
        </p:nvSpPr>
        <p:spPr>
          <a:xfrm>
            <a:off x="1463040" y="2560320"/>
            <a:ext cx="10058400" cy="1143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463040" y="2560320"/>
            <a:ext cx="54864" cy="11430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645920" y="2651760"/>
            <a:ext cx="2743200" cy="320040"/>
          </a:xfrm>
          <a:prstGeom prst="rect">
            <a:avLst/>
          </a:prstGeom>
          <a:noFill/>
        </p:spPr>
        <p:txBody>
          <a:bodyPr wrap="square">
            <a:spAutoFit/>
          </a:bodyPr>
          <a:lstStyle/>
          <a:p>
            <a:pPr algn="l"/>
            <a:r>
              <a:rPr sz="1200" b="1" i="0">
                <a:solidFill>
                  <a:srgbClr val="1E2761"/>
                </a:solidFill>
                <a:latin typeface="Calibri"/>
              </a:rPr>
              <a:t>Fetch Tasks</a:t>
            </a:r>
          </a:p>
        </p:txBody>
      </p:sp>
      <p:sp>
        <p:nvSpPr>
          <p:cNvPr id="16" name="TextBox 15"/>
          <p:cNvSpPr txBox="1"/>
          <p:nvPr/>
        </p:nvSpPr>
        <p:spPr>
          <a:xfrm>
            <a:off x="1645920" y="3017520"/>
            <a:ext cx="9692640" cy="621792"/>
          </a:xfrm>
          <a:prstGeom prst="rect">
            <a:avLst/>
          </a:prstGeom>
          <a:noFill/>
        </p:spPr>
        <p:txBody>
          <a:bodyPr wrap="square">
            <a:spAutoFit/>
          </a:bodyPr>
          <a:lstStyle/>
          <a:p>
            <a:pPr algn="l"/>
            <a:r>
              <a:rPr sz="1050" b="0" i="0">
                <a:solidFill>
                  <a:srgbClr val="55657A"/>
                </a:solidFill>
                <a:latin typeface="Calibri"/>
              </a:rPr>
              <a:t>On the home screen load and on pull-to-refresh, a QueryBuilder targets the Task class with a whereEqualTo filter on the user pointer. Results are ordered by creation date descending. The response is mapped to a list of TaskModel objects and displayed in the UI.</a:t>
            </a:r>
          </a:p>
        </p:txBody>
      </p:sp>
      <p:sp>
        <p:nvSpPr>
          <p:cNvPr id="17" name="Rectangle 16"/>
          <p:cNvSpPr/>
          <p:nvPr/>
        </p:nvSpPr>
        <p:spPr>
          <a:xfrm>
            <a:off x="365760" y="3931920"/>
            <a:ext cx="1097280" cy="1143000"/>
          </a:xfrm>
          <a:prstGeom prst="rect">
            <a:avLst/>
          </a:prstGeom>
          <a:solidFill>
            <a:srgbClr val="2E3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65760" y="4251959"/>
            <a:ext cx="1097280" cy="502920"/>
          </a:xfrm>
          <a:prstGeom prst="rect">
            <a:avLst/>
          </a:prstGeom>
          <a:noFill/>
        </p:spPr>
        <p:txBody>
          <a:bodyPr wrap="square">
            <a:spAutoFit/>
          </a:bodyPr>
          <a:lstStyle/>
          <a:p>
            <a:pPr algn="ctr"/>
            <a:r>
              <a:rPr sz="1300" b="1" i="0">
                <a:solidFill>
                  <a:srgbClr val="FFFFFF"/>
                </a:solidFill>
                <a:latin typeface="Calibri"/>
              </a:rPr>
              <a:t>UPDATE</a:t>
            </a:r>
          </a:p>
        </p:txBody>
      </p:sp>
      <p:sp>
        <p:nvSpPr>
          <p:cNvPr id="19" name="Rectangle 18"/>
          <p:cNvSpPr/>
          <p:nvPr/>
        </p:nvSpPr>
        <p:spPr>
          <a:xfrm>
            <a:off x="1463040" y="3931920"/>
            <a:ext cx="10058400" cy="1143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1463040" y="3931920"/>
            <a:ext cx="54864" cy="1143000"/>
          </a:xfrm>
          <a:prstGeom prst="rect">
            <a:avLst/>
          </a:prstGeom>
          <a:solidFill>
            <a:srgbClr val="2E3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645920" y="4023359"/>
            <a:ext cx="2743200" cy="320040"/>
          </a:xfrm>
          <a:prstGeom prst="rect">
            <a:avLst/>
          </a:prstGeom>
          <a:noFill/>
        </p:spPr>
        <p:txBody>
          <a:bodyPr wrap="square">
            <a:spAutoFit/>
          </a:bodyPr>
          <a:lstStyle/>
          <a:p>
            <a:pPr algn="l"/>
            <a:r>
              <a:rPr sz="1200" b="1" i="0">
                <a:solidFill>
                  <a:srgbClr val="1E2761"/>
                </a:solidFill>
                <a:latin typeface="Calibri"/>
              </a:rPr>
              <a:t>Edit Task</a:t>
            </a:r>
          </a:p>
        </p:txBody>
      </p:sp>
      <p:sp>
        <p:nvSpPr>
          <p:cNvPr id="22" name="TextBox 21"/>
          <p:cNvSpPr txBox="1"/>
          <p:nvPr/>
        </p:nvSpPr>
        <p:spPr>
          <a:xfrm>
            <a:off x="1645920" y="4389120"/>
            <a:ext cx="9692640" cy="621792"/>
          </a:xfrm>
          <a:prstGeom prst="rect">
            <a:avLst/>
          </a:prstGeom>
          <a:noFill/>
        </p:spPr>
        <p:txBody>
          <a:bodyPr wrap="square">
            <a:spAutoFit/>
          </a:bodyPr>
          <a:lstStyle/>
          <a:p>
            <a:pPr algn="l"/>
            <a:r>
              <a:rPr sz="1050" b="0" i="0">
                <a:solidFill>
                  <a:srgbClr val="55657A"/>
                </a:solidFill>
                <a:latin typeface="Calibri"/>
              </a:rPr>
              <a:t>When a user edits a task or toggles its completion, the existing objectId is retained on the ParseObject. Calling save() with the same objectId performs an update rather than an insert. All changed fields, including title, description, priority, and isCompleted, are sent to the server.</a:t>
            </a:r>
          </a:p>
        </p:txBody>
      </p:sp>
      <p:sp>
        <p:nvSpPr>
          <p:cNvPr id="23" name="Rectangle 22"/>
          <p:cNvSpPr/>
          <p:nvPr/>
        </p:nvSpPr>
        <p:spPr>
          <a:xfrm>
            <a:off x="365760" y="5303520"/>
            <a:ext cx="1097280" cy="1143000"/>
          </a:xfrm>
          <a:prstGeom prst="rect">
            <a:avLst/>
          </a:prstGeom>
          <a:solidFill>
            <a:srgbClr val="8B0C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65760" y="5623559"/>
            <a:ext cx="1097280" cy="502920"/>
          </a:xfrm>
          <a:prstGeom prst="rect">
            <a:avLst/>
          </a:prstGeom>
          <a:noFill/>
        </p:spPr>
        <p:txBody>
          <a:bodyPr wrap="square">
            <a:spAutoFit/>
          </a:bodyPr>
          <a:lstStyle/>
          <a:p>
            <a:pPr algn="ctr"/>
            <a:r>
              <a:rPr sz="1300" b="1" i="0">
                <a:solidFill>
                  <a:srgbClr val="FFFFFF"/>
                </a:solidFill>
                <a:latin typeface="Calibri"/>
              </a:rPr>
              <a:t>DELETE</a:t>
            </a:r>
          </a:p>
        </p:txBody>
      </p:sp>
      <p:sp>
        <p:nvSpPr>
          <p:cNvPr id="25" name="Rectangle 24"/>
          <p:cNvSpPr/>
          <p:nvPr/>
        </p:nvSpPr>
        <p:spPr>
          <a:xfrm>
            <a:off x="1463040" y="5303520"/>
            <a:ext cx="10058400" cy="1143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1463040" y="5303520"/>
            <a:ext cx="54864" cy="1143000"/>
          </a:xfrm>
          <a:prstGeom prst="rect">
            <a:avLst/>
          </a:prstGeom>
          <a:solidFill>
            <a:srgbClr val="8B0C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645920" y="5394959"/>
            <a:ext cx="2743200" cy="320040"/>
          </a:xfrm>
          <a:prstGeom prst="rect">
            <a:avLst/>
          </a:prstGeom>
          <a:noFill/>
        </p:spPr>
        <p:txBody>
          <a:bodyPr wrap="square">
            <a:spAutoFit/>
          </a:bodyPr>
          <a:lstStyle/>
          <a:p>
            <a:pPr algn="l"/>
            <a:r>
              <a:rPr sz="1200" b="1" i="0">
                <a:solidFill>
                  <a:srgbClr val="1E2761"/>
                </a:solidFill>
                <a:latin typeface="Calibri"/>
              </a:rPr>
              <a:t>Remove Task</a:t>
            </a:r>
          </a:p>
        </p:txBody>
      </p:sp>
      <p:sp>
        <p:nvSpPr>
          <p:cNvPr id="28" name="TextBox 27"/>
          <p:cNvSpPr txBox="1"/>
          <p:nvPr/>
        </p:nvSpPr>
        <p:spPr>
          <a:xfrm>
            <a:off x="1645920" y="5760720"/>
            <a:ext cx="9692640" cy="621792"/>
          </a:xfrm>
          <a:prstGeom prst="rect">
            <a:avLst/>
          </a:prstGeom>
          <a:noFill/>
        </p:spPr>
        <p:txBody>
          <a:bodyPr wrap="square">
            <a:spAutoFit/>
          </a:bodyPr>
          <a:lstStyle/>
          <a:p>
            <a:pPr algn="l"/>
            <a:r>
              <a:rPr sz="1050" b="0" i="0">
                <a:solidFill>
                  <a:srgbClr val="55657A"/>
                </a:solidFill>
                <a:latin typeface="Calibri"/>
              </a:rPr>
              <a:t>Swiping a task card to the left reveals a delete option. After user confirmation, a ParseObject is created using just the objectId, and delete() is called on it. The object is removed from Back4App and the list is refreshed. No full object fetch is needed for deletion.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64592"/>
            <a:ext cx="9144000" cy="640080"/>
          </a:xfrm>
          <a:prstGeom prst="rect">
            <a:avLst/>
          </a:prstGeom>
          <a:noFill/>
        </p:spPr>
        <p:txBody>
          <a:bodyPr wrap="square">
            <a:spAutoFit/>
          </a:bodyPr>
          <a:lstStyle/>
          <a:p>
            <a:pPr algn="l"/>
            <a:r>
              <a:rPr sz="2600" b="1" i="0">
                <a:solidFill>
                  <a:srgbClr val="FFFFFF"/>
                </a:solidFill>
                <a:latin typeface="Calibri"/>
              </a:rPr>
              <a:t>User Authentication</a:t>
            </a:r>
          </a:p>
        </p:txBody>
      </p:sp>
      <p:sp>
        <p:nvSpPr>
          <p:cNvPr id="4" name="TextBox 3"/>
          <p:cNvSpPr txBox="1"/>
          <p:nvPr/>
        </p:nvSpPr>
        <p:spPr>
          <a:xfrm>
            <a:off x="457200" y="640080"/>
            <a:ext cx="9144000" cy="320040"/>
          </a:xfrm>
          <a:prstGeom prst="rect">
            <a:avLst/>
          </a:prstGeom>
          <a:noFill/>
        </p:spPr>
        <p:txBody>
          <a:bodyPr wrap="square">
            <a:spAutoFit/>
          </a:bodyPr>
          <a:lstStyle/>
          <a:p>
            <a:pPr algn="l"/>
            <a:r>
              <a:rPr sz="1100" b="0" i="0">
                <a:solidFill>
                  <a:srgbClr val="CADCFC"/>
                </a:solidFill>
                <a:latin typeface="Calibri"/>
              </a:rPr>
              <a:t>How registration, login, and logout are handled through Back4App</a:t>
            </a:r>
          </a:p>
        </p:txBody>
      </p:sp>
      <p:sp>
        <p:nvSpPr>
          <p:cNvPr id="5" name="Rectangle 4"/>
          <p:cNvSpPr/>
          <p:nvPr/>
        </p:nvSpPr>
        <p:spPr>
          <a:xfrm>
            <a:off x="365760" y="1188720"/>
            <a:ext cx="3566160" cy="5212080"/>
          </a:xfrm>
          <a:prstGeom prst="rect">
            <a:avLst/>
          </a:prstGeom>
          <a:solidFill>
            <a:srgbClr val="2E3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65760" y="1188720"/>
            <a:ext cx="3566160" cy="502920"/>
          </a:xfrm>
          <a:prstGeom prst="rect">
            <a:avLst/>
          </a:prstGeom>
          <a:solidFill>
            <a:srgbClr val="2E3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1261872"/>
            <a:ext cx="3200400" cy="365760"/>
          </a:xfrm>
          <a:prstGeom prst="rect">
            <a:avLst/>
          </a:prstGeom>
          <a:noFill/>
        </p:spPr>
        <p:txBody>
          <a:bodyPr wrap="square">
            <a:spAutoFit/>
          </a:bodyPr>
          <a:lstStyle/>
          <a:p>
            <a:pPr algn="ctr"/>
            <a:r>
              <a:rPr sz="1300" b="1" i="0">
                <a:solidFill>
                  <a:srgbClr val="FFFFFF"/>
                </a:solidFill>
                <a:latin typeface="Calibri"/>
              </a:rPr>
              <a:t>Registration</a:t>
            </a:r>
          </a:p>
        </p:txBody>
      </p:sp>
      <p:sp>
        <p:nvSpPr>
          <p:cNvPr id="8" name="Rectangle 7"/>
          <p:cNvSpPr/>
          <p:nvPr/>
        </p:nvSpPr>
        <p:spPr>
          <a:xfrm>
            <a:off x="548640" y="1920240"/>
            <a:ext cx="164592" cy="164592"/>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1883664"/>
            <a:ext cx="2926080" cy="640080"/>
          </a:xfrm>
          <a:prstGeom prst="rect">
            <a:avLst/>
          </a:prstGeom>
          <a:noFill/>
        </p:spPr>
        <p:txBody>
          <a:bodyPr wrap="square">
            <a:spAutoFit/>
          </a:bodyPr>
          <a:lstStyle/>
          <a:p>
            <a:pPr algn="l"/>
            <a:r>
              <a:rPr sz="1000" b="0" i="0">
                <a:solidFill>
                  <a:srgbClr val="CADCFC"/>
                </a:solidFill>
                <a:latin typeface="Calibri"/>
              </a:rPr>
              <a:t>User enters full name, college email, and password on the register screen.</a:t>
            </a:r>
          </a:p>
        </p:txBody>
      </p:sp>
      <p:sp>
        <p:nvSpPr>
          <p:cNvPr id="10" name="Rectangle 9"/>
          <p:cNvSpPr/>
          <p:nvPr/>
        </p:nvSpPr>
        <p:spPr>
          <a:xfrm>
            <a:off x="548640" y="2779776"/>
            <a:ext cx="164592" cy="164592"/>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2960" y="2743200"/>
            <a:ext cx="2926080" cy="640080"/>
          </a:xfrm>
          <a:prstGeom prst="rect">
            <a:avLst/>
          </a:prstGeom>
          <a:noFill/>
        </p:spPr>
        <p:txBody>
          <a:bodyPr wrap="square">
            <a:spAutoFit/>
          </a:bodyPr>
          <a:lstStyle/>
          <a:p>
            <a:pPr algn="l"/>
            <a:r>
              <a:rPr sz="1000" b="0" i="0">
                <a:solidFill>
                  <a:srgbClr val="CADCFC"/>
                </a:solidFill>
                <a:latin typeface="Calibri"/>
              </a:rPr>
              <a:t>Email is used as both the username and email field in the ParseUser object.</a:t>
            </a:r>
          </a:p>
        </p:txBody>
      </p:sp>
      <p:sp>
        <p:nvSpPr>
          <p:cNvPr id="12" name="Rectangle 11"/>
          <p:cNvSpPr/>
          <p:nvPr/>
        </p:nvSpPr>
        <p:spPr>
          <a:xfrm>
            <a:off x="548640" y="3639312"/>
            <a:ext cx="164592" cy="164592"/>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2960" y="3602736"/>
            <a:ext cx="2926080" cy="640080"/>
          </a:xfrm>
          <a:prstGeom prst="rect">
            <a:avLst/>
          </a:prstGeom>
          <a:noFill/>
        </p:spPr>
        <p:txBody>
          <a:bodyPr wrap="square">
            <a:spAutoFit/>
          </a:bodyPr>
          <a:lstStyle/>
          <a:p>
            <a:pPr algn="l"/>
            <a:r>
              <a:rPr sz="1000" b="0" i="0">
                <a:solidFill>
                  <a:srgbClr val="CADCFC"/>
                </a:solidFill>
                <a:latin typeface="Calibri"/>
              </a:rPr>
              <a:t>ParseUser.signUp() sends the credentials to Back4App.</a:t>
            </a:r>
          </a:p>
        </p:txBody>
      </p:sp>
      <p:sp>
        <p:nvSpPr>
          <p:cNvPr id="14" name="Rectangle 13"/>
          <p:cNvSpPr/>
          <p:nvPr/>
        </p:nvSpPr>
        <p:spPr>
          <a:xfrm>
            <a:off x="548640" y="4498848"/>
            <a:ext cx="164592" cy="164592"/>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2960" y="4462272"/>
            <a:ext cx="2926080" cy="640080"/>
          </a:xfrm>
          <a:prstGeom prst="rect">
            <a:avLst/>
          </a:prstGeom>
          <a:noFill/>
        </p:spPr>
        <p:txBody>
          <a:bodyPr wrap="square">
            <a:spAutoFit/>
          </a:bodyPr>
          <a:lstStyle/>
          <a:p>
            <a:pPr algn="l"/>
            <a:r>
              <a:rPr sz="1000" b="0" i="0">
                <a:solidFill>
                  <a:srgbClr val="CADCFC"/>
                </a:solidFill>
                <a:latin typeface="Calibri"/>
              </a:rPr>
              <a:t>Back4App hashes the password using bcrypt before storing it.</a:t>
            </a:r>
          </a:p>
        </p:txBody>
      </p:sp>
      <p:sp>
        <p:nvSpPr>
          <p:cNvPr id="16" name="Rectangle 15"/>
          <p:cNvSpPr/>
          <p:nvPr/>
        </p:nvSpPr>
        <p:spPr>
          <a:xfrm>
            <a:off x="548640" y="5358383"/>
            <a:ext cx="164592" cy="164592"/>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2960" y="5321808"/>
            <a:ext cx="2926080" cy="640080"/>
          </a:xfrm>
          <a:prstGeom prst="rect">
            <a:avLst/>
          </a:prstGeom>
          <a:noFill/>
        </p:spPr>
        <p:txBody>
          <a:bodyPr wrap="square">
            <a:spAutoFit/>
          </a:bodyPr>
          <a:lstStyle/>
          <a:p>
            <a:pPr algn="l"/>
            <a:r>
              <a:rPr sz="1000" b="0" i="0">
                <a:solidFill>
                  <a:srgbClr val="CADCFC"/>
                </a:solidFill>
                <a:latin typeface="Calibri"/>
              </a:rPr>
              <a:t>On success, the user is redirected to the login screen.</a:t>
            </a:r>
          </a:p>
        </p:txBody>
      </p:sp>
      <p:sp>
        <p:nvSpPr>
          <p:cNvPr id="18" name="Rectangle 17"/>
          <p:cNvSpPr/>
          <p:nvPr/>
        </p:nvSpPr>
        <p:spPr>
          <a:xfrm>
            <a:off x="4297680" y="1188720"/>
            <a:ext cx="3566160" cy="5212080"/>
          </a:xfrm>
          <a:prstGeom prst="rect">
            <a:avLst/>
          </a:prstGeom>
          <a:solidFill>
            <a:srgbClr val="2E3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297680" y="1188720"/>
            <a:ext cx="3566160" cy="502920"/>
          </a:xfrm>
          <a:prstGeom prst="rect">
            <a:avLst/>
          </a:prstGeom>
          <a:solidFill>
            <a:srgbClr val="2E3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480560" y="1261872"/>
            <a:ext cx="3200400" cy="365760"/>
          </a:xfrm>
          <a:prstGeom prst="rect">
            <a:avLst/>
          </a:prstGeom>
          <a:noFill/>
        </p:spPr>
        <p:txBody>
          <a:bodyPr wrap="square">
            <a:spAutoFit/>
          </a:bodyPr>
          <a:lstStyle/>
          <a:p>
            <a:pPr algn="ctr"/>
            <a:r>
              <a:rPr sz="1300" b="1" i="0">
                <a:solidFill>
                  <a:srgbClr val="FFFFFF"/>
                </a:solidFill>
                <a:latin typeface="Calibri"/>
              </a:rPr>
              <a:t>Login</a:t>
            </a:r>
          </a:p>
        </p:txBody>
      </p:sp>
      <p:sp>
        <p:nvSpPr>
          <p:cNvPr id="21" name="Rectangle 20"/>
          <p:cNvSpPr/>
          <p:nvPr/>
        </p:nvSpPr>
        <p:spPr>
          <a:xfrm>
            <a:off x="4480560" y="1920240"/>
            <a:ext cx="164592" cy="164592"/>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754880" y="1883664"/>
            <a:ext cx="2926080" cy="640080"/>
          </a:xfrm>
          <a:prstGeom prst="rect">
            <a:avLst/>
          </a:prstGeom>
          <a:noFill/>
        </p:spPr>
        <p:txBody>
          <a:bodyPr wrap="square">
            <a:spAutoFit/>
          </a:bodyPr>
          <a:lstStyle/>
          <a:p>
            <a:pPr algn="l"/>
            <a:r>
              <a:rPr sz="1000" b="0" i="0">
                <a:solidFill>
                  <a:srgbClr val="CADCFC"/>
                </a:solidFill>
                <a:latin typeface="Calibri"/>
              </a:rPr>
              <a:t>User enters their registered email and password.</a:t>
            </a:r>
          </a:p>
        </p:txBody>
      </p:sp>
      <p:sp>
        <p:nvSpPr>
          <p:cNvPr id="23" name="Rectangle 22"/>
          <p:cNvSpPr/>
          <p:nvPr/>
        </p:nvSpPr>
        <p:spPr>
          <a:xfrm>
            <a:off x="4480560" y="2779776"/>
            <a:ext cx="164592" cy="164592"/>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754880" y="2743200"/>
            <a:ext cx="2926080" cy="640080"/>
          </a:xfrm>
          <a:prstGeom prst="rect">
            <a:avLst/>
          </a:prstGeom>
          <a:noFill/>
        </p:spPr>
        <p:txBody>
          <a:bodyPr wrap="square">
            <a:spAutoFit/>
          </a:bodyPr>
          <a:lstStyle/>
          <a:p>
            <a:pPr algn="l"/>
            <a:r>
              <a:rPr sz="1000" b="0" i="0">
                <a:solidFill>
                  <a:srgbClr val="CADCFC"/>
                </a:solidFill>
                <a:latin typeface="Calibri"/>
              </a:rPr>
              <a:t>ParseUser.login() is called with the email as the username.</a:t>
            </a:r>
          </a:p>
        </p:txBody>
      </p:sp>
      <p:sp>
        <p:nvSpPr>
          <p:cNvPr id="25" name="Rectangle 24"/>
          <p:cNvSpPr/>
          <p:nvPr/>
        </p:nvSpPr>
        <p:spPr>
          <a:xfrm>
            <a:off x="4480560" y="3639312"/>
            <a:ext cx="164592" cy="164592"/>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754880" y="3602736"/>
            <a:ext cx="2926080" cy="640080"/>
          </a:xfrm>
          <a:prstGeom prst="rect">
            <a:avLst/>
          </a:prstGeom>
          <a:noFill/>
        </p:spPr>
        <p:txBody>
          <a:bodyPr wrap="square">
            <a:spAutoFit/>
          </a:bodyPr>
          <a:lstStyle/>
          <a:p>
            <a:pPr algn="l"/>
            <a:r>
              <a:rPr sz="1000" b="0" i="0">
                <a:solidFill>
                  <a:srgbClr val="CADCFC"/>
                </a:solidFill>
                <a:latin typeface="Calibri"/>
              </a:rPr>
              <a:t>Back4App validates the credentials and returns a session token.</a:t>
            </a:r>
          </a:p>
        </p:txBody>
      </p:sp>
      <p:sp>
        <p:nvSpPr>
          <p:cNvPr id="27" name="Rectangle 26"/>
          <p:cNvSpPr/>
          <p:nvPr/>
        </p:nvSpPr>
        <p:spPr>
          <a:xfrm>
            <a:off x="4480560" y="4498848"/>
            <a:ext cx="164592" cy="164592"/>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754880" y="4462272"/>
            <a:ext cx="2926080" cy="640080"/>
          </a:xfrm>
          <a:prstGeom prst="rect">
            <a:avLst/>
          </a:prstGeom>
          <a:noFill/>
        </p:spPr>
        <p:txBody>
          <a:bodyPr wrap="square">
            <a:spAutoFit/>
          </a:bodyPr>
          <a:lstStyle/>
          <a:p>
            <a:pPr algn="l"/>
            <a:r>
              <a:rPr sz="1000" b="0" i="0">
                <a:solidFill>
                  <a:srgbClr val="CADCFC"/>
                </a:solidFill>
                <a:latin typeface="Calibri"/>
              </a:rPr>
              <a:t>The session token is automatically persisted locally by the Parse SDK.</a:t>
            </a:r>
          </a:p>
        </p:txBody>
      </p:sp>
      <p:sp>
        <p:nvSpPr>
          <p:cNvPr id="29" name="Rectangle 28"/>
          <p:cNvSpPr/>
          <p:nvPr/>
        </p:nvSpPr>
        <p:spPr>
          <a:xfrm>
            <a:off x="4480560" y="5358383"/>
            <a:ext cx="164592" cy="164592"/>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754880" y="5321808"/>
            <a:ext cx="2926080" cy="640080"/>
          </a:xfrm>
          <a:prstGeom prst="rect">
            <a:avLst/>
          </a:prstGeom>
          <a:noFill/>
        </p:spPr>
        <p:txBody>
          <a:bodyPr wrap="square">
            <a:spAutoFit/>
          </a:bodyPr>
          <a:lstStyle/>
          <a:p>
            <a:pPr algn="l"/>
            <a:r>
              <a:rPr sz="1000" b="0" i="0">
                <a:solidFill>
                  <a:srgbClr val="CADCFC"/>
                </a:solidFill>
                <a:latin typeface="Calibri"/>
              </a:rPr>
              <a:t>On the next app launch, the token is read and login is skipped.</a:t>
            </a:r>
          </a:p>
        </p:txBody>
      </p:sp>
      <p:sp>
        <p:nvSpPr>
          <p:cNvPr id="31" name="Rectangle 30"/>
          <p:cNvSpPr/>
          <p:nvPr/>
        </p:nvSpPr>
        <p:spPr>
          <a:xfrm>
            <a:off x="8229600" y="1188720"/>
            <a:ext cx="3566160" cy="5212080"/>
          </a:xfrm>
          <a:prstGeom prst="rect">
            <a:avLst/>
          </a:prstGeom>
          <a:solidFill>
            <a:srgbClr val="2E3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8229600" y="1188720"/>
            <a:ext cx="3566160" cy="502920"/>
          </a:xfrm>
          <a:prstGeom prst="rect">
            <a:avLst/>
          </a:prstGeom>
          <a:solidFill>
            <a:srgbClr val="2E3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412480" y="1261872"/>
            <a:ext cx="3200400" cy="365760"/>
          </a:xfrm>
          <a:prstGeom prst="rect">
            <a:avLst/>
          </a:prstGeom>
          <a:noFill/>
        </p:spPr>
        <p:txBody>
          <a:bodyPr wrap="square">
            <a:spAutoFit/>
          </a:bodyPr>
          <a:lstStyle/>
          <a:p>
            <a:pPr algn="ctr"/>
            <a:r>
              <a:rPr sz="1300" b="1" i="0">
                <a:solidFill>
                  <a:srgbClr val="FFFFFF"/>
                </a:solidFill>
                <a:latin typeface="Calibri"/>
              </a:rPr>
              <a:t>Logout</a:t>
            </a:r>
          </a:p>
        </p:txBody>
      </p:sp>
      <p:sp>
        <p:nvSpPr>
          <p:cNvPr id="34" name="Rectangle 33"/>
          <p:cNvSpPr/>
          <p:nvPr/>
        </p:nvSpPr>
        <p:spPr>
          <a:xfrm>
            <a:off x="8412480" y="1920240"/>
            <a:ext cx="164592" cy="164592"/>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686800" y="1883664"/>
            <a:ext cx="2926080" cy="640080"/>
          </a:xfrm>
          <a:prstGeom prst="rect">
            <a:avLst/>
          </a:prstGeom>
          <a:noFill/>
        </p:spPr>
        <p:txBody>
          <a:bodyPr wrap="square">
            <a:spAutoFit/>
          </a:bodyPr>
          <a:lstStyle/>
          <a:p>
            <a:pPr algn="l"/>
            <a:r>
              <a:rPr sz="1000" b="0" i="0">
                <a:solidFill>
                  <a:srgbClr val="CADCFC"/>
                </a:solidFill>
                <a:latin typeface="Calibri"/>
              </a:rPr>
              <a:t>User taps the logout icon and confirms in the dialog.</a:t>
            </a:r>
          </a:p>
        </p:txBody>
      </p:sp>
      <p:sp>
        <p:nvSpPr>
          <p:cNvPr id="36" name="Rectangle 35"/>
          <p:cNvSpPr/>
          <p:nvPr/>
        </p:nvSpPr>
        <p:spPr>
          <a:xfrm>
            <a:off x="8412480" y="2779776"/>
            <a:ext cx="164592" cy="164592"/>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686800" y="2743200"/>
            <a:ext cx="2926080" cy="640080"/>
          </a:xfrm>
          <a:prstGeom prst="rect">
            <a:avLst/>
          </a:prstGeom>
          <a:noFill/>
        </p:spPr>
        <p:txBody>
          <a:bodyPr wrap="square">
            <a:spAutoFit/>
          </a:bodyPr>
          <a:lstStyle/>
          <a:p>
            <a:pPr algn="l"/>
            <a:r>
              <a:rPr sz="1000" b="0" i="0">
                <a:solidFill>
                  <a:srgbClr val="CADCFC"/>
                </a:solidFill>
                <a:latin typeface="Calibri"/>
              </a:rPr>
              <a:t>ParseUser.logout() is called on the current user object.</a:t>
            </a:r>
          </a:p>
        </p:txBody>
      </p:sp>
      <p:sp>
        <p:nvSpPr>
          <p:cNvPr id="38" name="Rectangle 37"/>
          <p:cNvSpPr/>
          <p:nvPr/>
        </p:nvSpPr>
        <p:spPr>
          <a:xfrm>
            <a:off x="8412480" y="3639312"/>
            <a:ext cx="164592" cy="164592"/>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8686800" y="3602736"/>
            <a:ext cx="2926080" cy="640080"/>
          </a:xfrm>
          <a:prstGeom prst="rect">
            <a:avLst/>
          </a:prstGeom>
          <a:noFill/>
        </p:spPr>
        <p:txBody>
          <a:bodyPr wrap="square">
            <a:spAutoFit/>
          </a:bodyPr>
          <a:lstStyle/>
          <a:p>
            <a:pPr algn="l"/>
            <a:r>
              <a:rPr sz="1000" b="0" i="0">
                <a:solidFill>
                  <a:srgbClr val="CADCFC"/>
                </a:solidFill>
                <a:latin typeface="Calibri"/>
              </a:rPr>
              <a:t>The session token is invalidated on the Back4App server.</a:t>
            </a:r>
          </a:p>
        </p:txBody>
      </p:sp>
      <p:sp>
        <p:nvSpPr>
          <p:cNvPr id="40" name="Rectangle 39"/>
          <p:cNvSpPr/>
          <p:nvPr/>
        </p:nvSpPr>
        <p:spPr>
          <a:xfrm>
            <a:off x="8412480" y="4498848"/>
            <a:ext cx="164592" cy="164592"/>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686800" y="4462272"/>
            <a:ext cx="2926080" cy="640080"/>
          </a:xfrm>
          <a:prstGeom prst="rect">
            <a:avLst/>
          </a:prstGeom>
          <a:noFill/>
        </p:spPr>
        <p:txBody>
          <a:bodyPr wrap="square">
            <a:spAutoFit/>
          </a:bodyPr>
          <a:lstStyle/>
          <a:p>
            <a:pPr algn="l"/>
            <a:r>
              <a:rPr sz="1000" b="0" i="0">
                <a:solidFill>
                  <a:srgbClr val="CADCFC"/>
                </a:solidFill>
                <a:latin typeface="Calibri"/>
              </a:rPr>
              <a:t>Local session data is cleared by the SDK.</a:t>
            </a:r>
          </a:p>
        </p:txBody>
      </p:sp>
      <p:sp>
        <p:nvSpPr>
          <p:cNvPr id="42" name="Rectangle 41"/>
          <p:cNvSpPr/>
          <p:nvPr/>
        </p:nvSpPr>
        <p:spPr>
          <a:xfrm>
            <a:off x="8412480" y="5358383"/>
            <a:ext cx="164592" cy="164592"/>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8686800" y="5321808"/>
            <a:ext cx="2926080" cy="640080"/>
          </a:xfrm>
          <a:prstGeom prst="rect">
            <a:avLst/>
          </a:prstGeom>
          <a:noFill/>
        </p:spPr>
        <p:txBody>
          <a:bodyPr wrap="square">
            <a:spAutoFit/>
          </a:bodyPr>
          <a:lstStyle/>
          <a:p>
            <a:pPr algn="l"/>
            <a:r>
              <a:rPr sz="1000" b="0" i="0">
                <a:solidFill>
                  <a:srgbClr val="CADCFC"/>
                </a:solidFill>
                <a:latin typeface="Calibri"/>
              </a:rPr>
              <a:t>User is redirected to the login screen and cannot re-enter without credentials.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64592"/>
            <a:ext cx="9144000" cy="640080"/>
          </a:xfrm>
          <a:prstGeom prst="rect">
            <a:avLst/>
          </a:prstGeom>
          <a:noFill/>
        </p:spPr>
        <p:txBody>
          <a:bodyPr wrap="square">
            <a:spAutoFit/>
          </a:bodyPr>
          <a:lstStyle/>
          <a:p>
            <a:pPr algn="l"/>
            <a:r>
              <a:rPr sz="2600" b="1" i="0">
                <a:solidFill>
                  <a:srgbClr val="FFFFFF"/>
                </a:solidFill>
                <a:latin typeface="Calibri"/>
              </a:rPr>
              <a:t>Challenges Faced and Key Learnings</a:t>
            </a:r>
          </a:p>
        </p:txBody>
      </p:sp>
      <p:sp>
        <p:nvSpPr>
          <p:cNvPr id="4" name="TextBox 3"/>
          <p:cNvSpPr txBox="1"/>
          <p:nvPr/>
        </p:nvSpPr>
        <p:spPr>
          <a:xfrm>
            <a:off x="457200" y="640080"/>
            <a:ext cx="10058400" cy="320040"/>
          </a:xfrm>
          <a:prstGeom prst="rect">
            <a:avLst/>
          </a:prstGeom>
          <a:noFill/>
        </p:spPr>
        <p:txBody>
          <a:bodyPr wrap="square">
            <a:spAutoFit/>
          </a:bodyPr>
          <a:lstStyle/>
          <a:p>
            <a:pPr algn="l"/>
            <a:r>
              <a:rPr sz="1100" b="0" i="0">
                <a:solidFill>
                  <a:srgbClr val="CADCFC"/>
                </a:solidFill>
                <a:latin typeface="Calibri"/>
              </a:rPr>
              <a:t>Real issues encountered during development and what was learned from solving them</a:t>
            </a:r>
          </a:p>
        </p:txBody>
      </p:sp>
      <p:sp>
        <p:nvSpPr>
          <p:cNvPr id="5" name="TextBox 4"/>
          <p:cNvSpPr txBox="1"/>
          <p:nvPr/>
        </p:nvSpPr>
        <p:spPr>
          <a:xfrm>
            <a:off x="365760" y="1143000"/>
            <a:ext cx="5486400" cy="365760"/>
          </a:xfrm>
          <a:prstGeom prst="rect">
            <a:avLst/>
          </a:prstGeom>
          <a:noFill/>
        </p:spPr>
        <p:txBody>
          <a:bodyPr wrap="square">
            <a:spAutoFit/>
          </a:bodyPr>
          <a:lstStyle/>
          <a:p>
            <a:pPr algn="l"/>
            <a:r>
              <a:rPr sz="1300" b="1" i="0">
                <a:solidFill>
                  <a:srgbClr val="1E2761"/>
                </a:solidFill>
                <a:latin typeface="Calibri"/>
              </a:rPr>
              <a:t>Challenges Overcome</a:t>
            </a:r>
          </a:p>
        </p:txBody>
      </p:sp>
      <p:sp>
        <p:nvSpPr>
          <p:cNvPr id="6" name="Rectangle 5"/>
          <p:cNvSpPr/>
          <p:nvPr/>
        </p:nvSpPr>
        <p:spPr>
          <a:xfrm>
            <a:off x="365760" y="1572768"/>
            <a:ext cx="5303520" cy="36576"/>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1691640"/>
            <a:ext cx="5303520" cy="10972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65760" y="1691640"/>
            <a:ext cx="64008" cy="109728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66928" y="1783080"/>
            <a:ext cx="4846320" cy="261610"/>
          </a:xfrm>
          <a:prstGeom prst="rect">
            <a:avLst/>
          </a:prstGeom>
          <a:noFill/>
        </p:spPr>
        <p:txBody>
          <a:bodyPr wrap="square">
            <a:spAutoFit/>
          </a:bodyPr>
          <a:lstStyle/>
          <a:p>
            <a:r>
              <a:rPr lang="en-IN" sz="1100" b="1" dirty="0">
                <a:solidFill>
                  <a:srgbClr val="1E2761"/>
                </a:solidFill>
              </a:rPr>
              <a:t>Designing for Authentication Flows</a:t>
            </a:r>
            <a:endParaRPr sz="1100" b="1" i="0" dirty="0">
              <a:solidFill>
                <a:srgbClr val="1E2761"/>
              </a:solidFill>
              <a:latin typeface="Calibri"/>
            </a:endParaRPr>
          </a:p>
        </p:txBody>
      </p:sp>
      <p:sp>
        <p:nvSpPr>
          <p:cNvPr id="10" name="TextBox 9"/>
          <p:cNvSpPr txBox="1"/>
          <p:nvPr/>
        </p:nvSpPr>
        <p:spPr>
          <a:xfrm>
            <a:off x="566928" y="2112264"/>
            <a:ext cx="4846320" cy="384721"/>
          </a:xfrm>
          <a:prstGeom prst="rect">
            <a:avLst/>
          </a:prstGeom>
          <a:noFill/>
        </p:spPr>
        <p:txBody>
          <a:bodyPr wrap="square">
            <a:spAutoFit/>
          </a:bodyPr>
          <a:lstStyle/>
          <a:p>
            <a:r>
              <a:rPr lang="en-US" sz="950" dirty="0">
                <a:solidFill>
                  <a:srgbClr val="55657A"/>
                </a:solidFill>
              </a:rPr>
              <a:t>handling logged-in vs. logged-out states, session expiry, and ensuring users can only access their own data</a:t>
            </a:r>
            <a:endParaRPr sz="950" b="0" i="0" dirty="0">
              <a:solidFill>
                <a:srgbClr val="55657A"/>
              </a:solidFill>
              <a:latin typeface="Calibri"/>
            </a:endParaRPr>
          </a:p>
        </p:txBody>
      </p:sp>
      <p:sp>
        <p:nvSpPr>
          <p:cNvPr id="11" name="Rectangle 10"/>
          <p:cNvSpPr/>
          <p:nvPr/>
        </p:nvSpPr>
        <p:spPr>
          <a:xfrm>
            <a:off x="365760" y="2926080"/>
            <a:ext cx="5303520" cy="10972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65760" y="2926080"/>
            <a:ext cx="64008" cy="109728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66928" y="3017520"/>
            <a:ext cx="4846320" cy="261610"/>
          </a:xfrm>
          <a:prstGeom prst="rect">
            <a:avLst/>
          </a:prstGeom>
          <a:noFill/>
        </p:spPr>
        <p:txBody>
          <a:bodyPr wrap="square">
            <a:spAutoFit/>
          </a:bodyPr>
          <a:lstStyle/>
          <a:p>
            <a:r>
              <a:rPr lang="en-US" sz="1100" b="1" dirty="0" smtClean="0">
                <a:solidFill>
                  <a:srgbClr val="1E2761"/>
                </a:solidFill>
              </a:rPr>
              <a:t>Understanding </a:t>
            </a:r>
            <a:r>
              <a:rPr lang="en-US" sz="1100" b="1" dirty="0">
                <a:solidFill>
                  <a:srgbClr val="1E2761"/>
                </a:solidFill>
              </a:rPr>
              <a:t>Data Security &amp; User </a:t>
            </a:r>
            <a:r>
              <a:rPr lang="en-US" sz="1100" b="1" dirty="0" smtClean="0">
                <a:solidFill>
                  <a:srgbClr val="1E2761"/>
                </a:solidFill>
              </a:rPr>
              <a:t>Isolation </a:t>
            </a:r>
            <a:endParaRPr sz="1100" b="1" i="0" dirty="0">
              <a:solidFill>
                <a:srgbClr val="1E2761"/>
              </a:solidFill>
              <a:latin typeface="Calibri"/>
            </a:endParaRPr>
          </a:p>
        </p:txBody>
      </p:sp>
      <p:sp>
        <p:nvSpPr>
          <p:cNvPr id="14" name="TextBox 13"/>
          <p:cNvSpPr txBox="1"/>
          <p:nvPr/>
        </p:nvSpPr>
        <p:spPr>
          <a:xfrm>
            <a:off x="566928" y="3279130"/>
            <a:ext cx="4846320" cy="677108"/>
          </a:xfrm>
          <a:prstGeom prst="rect">
            <a:avLst/>
          </a:prstGeom>
          <a:noFill/>
        </p:spPr>
        <p:txBody>
          <a:bodyPr wrap="square">
            <a:spAutoFit/>
          </a:bodyPr>
          <a:lstStyle/>
          <a:p>
            <a:r>
              <a:rPr lang="en-US" sz="950" dirty="0" smtClean="0">
                <a:solidFill>
                  <a:srgbClr val="55657A"/>
                </a:solidFill>
              </a:rPr>
              <a:t>It’s easy </a:t>
            </a:r>
            <a:r>
              <a:rPr lang="en-US" sz="950" dirty="0">
                <a:solidFill>
                  <a:srgbClr val="55657A"/>
                </a:solidFill>
              </a:rPr>
              <a:t>to build an app where all users can see each other's data without </a:t>
            </a:r>
            <a:r>
              <a:rPr lang="en-US" sz="950" dirty="0" smtClean="0">
                <a:solidFill>
                  <a:srgbClr val="55657A"/>
                </a:solidFill>
              </a:rPr>
              <a:t>realizing </a:t>
            </a:r>
            <a:r>
              <a:rPr lang="en-US" sz="950" dirty="0">
                <a:solidFill>
                  <a:srgbClr val="55657A"/>
                </a:solidFill>
              </a:rPr>
              <a:t>it. Learning how Parse's ACL and Class Level Permissions work together </a:t>
            </a:r>
            <a:r>
              <a:rPr lang="en-US" sz="950" dirty="0" smtClean="0">
                <a:solidFill>
                  <a:srgbClr val="55657A"/>
                </a:solidFill>
              </a:rPr>
              <a:t>and </a:t>
            </a:r>
            <a:r>
              <a:rPr lang="en-US" sz="950" dirty="0">
                <a:solidFill>
                  <a:srgbClr val="55657A"/>
                </a:solidFill>
              </a:rPr>
              <a:t>why they must both be configured </a:t>
            </a:r>
            <a:r>
              <a:rPr lang="en-US" sz="950" dirty="0" smtClean="0">
                <a:solidFill>
                  <a:srgbClr val="55657A"/>
                </a:solidFill>
              </a:rPr>
              <a:t> </a:t>
            </a:r>
            <a:r>
              <a:rPr lang="en-US" sz="950" dirty="0">
                <a:solidFill>
                  <a:srgbClr val="55657A"/>
                </a:solidFill>
              </a:rPr>
              <a:t>was a key hurdle. Once understood, it became a solid mental model for thinking about data access in any cloud app.</a:t>
            </a:r>
            <a:endParaRPr sz="950" b="0" i="0" dirty="0">
              <a:solidFill>
                <a:srgbClr val="55657A"/>
              </a:solidFill>
              <a:latin typeface="Calibri"/>
            </a:endParaRPr>
          </a:p>
        </p:txBody>
      </p:sp>
      <p:sp>
        <p:nvSpPr>
          <p:cNvPr id="15" name="Rectangle 14"/>
          <p:cNvSpPr/>
          <p:nvPr/>
        </p:nvSpPr>
        <p:spPr>
          <a:xfrm>
            <a:off x="365760" y="4160520"/>
            <a:ext cx="5303520" cy="10972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365760" y="4160520"/>
            <a:ext cx="64008" cy="109728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66928" y="4251960"/>
            <a:ext cx="4846320" cy="261610"/>
          </a:xfrm>
          <a:prstGeom prst="rect">
            <a:avLst/>
          </a:prstGeom>
          <a:noFill/>
        </p:spPr>
        <p:txBody>
          <a:bodyPr wrap="square">
            <a:spAutoFit/>
          </a:bodyPr>
          <a:lstStyle/>
          <a:p>
            <a:r>
              <a:rPr lang="en-US" sz="1100" b="1" dirty="0">
                <a:solidFill>
                  <a:srgbClr val="1E2761"/>
                </a:solidFill>
              </a:rPr>
              <a:t>Building Truly Cross-Platform vs. Just Multi-Platform</a:t>
            </a:r>
            <a:endParaRPr sz="1100" b="1" i="0" dirty="0">
              <a:solidFill>
                <a:srgbClr val="1E2761"/>
              </a:solidFill>
              <a:latin typeface="Calibri"/>
            </a:endParaRPr>
          </a:p>
        </p:txBody>
      </p:sp>
      <p:sp>
        <p:nvSpPr>
          <p:cNvPr id="18" name="TextBox 17"/>
          <p:cNvSpPr txBox="1"/>
          <p:nvPr/>
        </p:nvSpPr>
        <p:spPr>
          <a:xfrm>
            <a:off x="566928" y="4581144"/>
            <a:ext cx="4846320" cy="677108"/>
          </a:xfrm>
          <a:prstGeom prst="rect">
            <a:avLst/>
          </a:prstGeom>
          <a:noFill/>
        </p:spPr>
        <p:txBody>
          <a:bodyPr wrap="square">
            <a:spAutoFit/>
          </a:bodyPr>
          <a:lstStyle/>
          <a:p>
            <a:r>
              <a:rPr lang="en-US" sz="950" dirty="0">
                <a:solidFill>
                  <a:srgbClr val="55657A"/>
                </a:solidFill>
              </a:rPr>
              <a:t>Getting the app to compile on Android, iOS, and desktop felt like a win — but each platform has its own build toolchain, permissions model, and UI </a:t>
            </a:r>
            <a:r>
              <a:rPr lang="en-US" sz="950" dirty="0" smtClean="0">
                <a:solidFill>
                  <a:srgbClr val="55657A"/>
                </a:solidFill>
              </a:rPr>
              <a:t>behavior. </a:t>
            </a:r>
            <a:r>
              <a:rPr lang="en-US" sz="950" dirty="0">
                <a:solidFill>
                  <a:srgbClr val="55657A"/>
                </a:solidFill>
              </a:rPr>
              <a:t>True cross-platform development means thinking about these differences from the start, not patching them at the end.</a:t>
            </a:r>
            <a:endParaRPr sz="950" b="0" i="0" dirty="0">
              <a:solidFill>
                <a:srgbClr val="55657A"/>
              </a:solidFill>
              <a:latin typeface="Calibri"/>
            </a:endParaRPr>
          </a:p>
        </p:txBody>
      </p:sp>
      <p:sp>
        <p:nvSpPr>
          <p:cNvPr id="19" name="Rectangle 18"/>
          <p:cNvSpPr/>
          <p:nvPr/>
        </p:nvSpPr>
        <p:spPr>
          <a:xfrm>
            <a:off x="365760" y="5394960"/>
            <a:ext cx="5303520" cy="10972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365760" y="5394960"/>
            <a:ext cx="64008" cy="109728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66928" y="5486400"/>
            <a:ext cx="4846320" cy="261610"/>
          </a:xfrm>
          <a:prstGeom prst="rect">
            <a:avLst/>
          </a:prstGeom>
          <a:noFill/>
        </p:spPr>
        <p:txBody>
          <a:bodyPr wrap="square">
            <a:spAutoFit/>
          </a:bodyPr>
          <a:lstStyle/>
          <a:p>
            <a:r>
              <a:rPr lang="en-IN" sz="1100" b="1" dirty="0">
                <a:solidFill>
                  <a:srgbClr val="1E2761"/>
                </a:solidFill>
              </a:rPr>
              <a:t>Understanding </a:t>
            </a:r>
            <a:r>
              <a:rPr lang="en-IN" sz="1100" b="1" dirty="0" err="1">
                <a:solidFill>
                  <a:srgbClr val="1E2761"/>
                </a:solidFill>
              </a:rPr>
              <a:t>Async</a:t>
            </a:r>
            <a:r>
              <a:rPr lang="en-IN" sz="1100" b="1" dirty="0">
                <a:solidFill>
                  <a:srgbClr val="1E2761"/>
                </a:solidFill>
              </a:rPr>
              <a:t> Programming</a:t>
            </a:r>
            <a:endParaRPr sz="1100" b="1" i="0" dirty="0">
              <a:solidFill>
                <a:srgbClr val="1E2761"/>
              </a:solidFill>
              <a:latin typeface="Calibri"/>
            </a:endParaRPr>
          </a:p>
        </p:txBody>
      </p:sp>
      <p:sp>
        <p:nvSpPr>
          <p:cNvPr id="22" name="TextBox 21"/>
          <p:cNvSpPr txBox="1"/>
          <p:nvPr/>
        </p:nvSpPr>
        <p:spPr>
          <a:xfrm>
            <a:off x="566928" y="5815584"/>
            <a:ext cx="4846320" cy="384721"/>
          </a:xfrm>
          <a:prstGeom prst="rect">
            <a:avLst/>
          </a:prstGeom>
          <a:noFill/>
        </p:spPr>
        <p:txBody>
          <a:bodyPr wrap="square">
            <a:spAutoFit/>
          </a:bodyPr>
          <a:lstStyle/>
          <a:p>
            <a:r>
              <a:rPr lang="en-US" sz="950" dirty="0">
                <a:solidFill>
                  <a:srgbClr val="55657A"/>
                </a:solidFill>
              </a:rPr>
              <a:t>moving from synchronous thinking to awaiting network calls, and </a:t>
            </a:r>
            <a:r>
              <a:rPr lang="en-US" sz="950" dirty="0" err="1">
                <a:solidFill>
                  <a:srgbClr val="55657A"/>
                </a:solidFill>
              </a:rPr>
              <a:t>realising</a:t>
            </a:r>
            <a:r>
              <a:rPr lang="en-US" sz="950" dirty="0">
                <a:solidFill>
                  <a:srgbClr val="55657A"/>
                </a:solidFill>
              </a:rPr>
              <a:t> the UI doesn't wait for your data</a:t>
            </a:r>
            <a:endParaRPr sz="950" b="0" i="0" dirty="0">
              <a:solidFill>
                <a:srgbClr val="55657A"/>
              </a:solidFill>
              <a:latin typeface="Calibri"/>
            </a:endParaRPr>
          </a:p>
        </p:txBody>
      </p:sp>
      <p:sp>
        <p:nvSpPr>
          <p:cNvPr id="23" name="TextBox 22"/>
          <p:cNvSpPr txBox="1"/>
          <p:nvPr/>
        </p:nvSpPr>
        <p:spPr>
          <a:xfrm>
            <a:off x="6217920" y="1143000"/>
            <a:ext cx="5486400" cy="365760"/>
          </a:xfrm>
          <a:prstGeom prst="rect">
            <a:avLst/>
          </a:prstGeom>
          <a:noFill/>
        </p:spPr>
        <p:txBody>
          <a:bodyPr wrap="square">
            <a:spAutoFit/>
          </a:bodyPr>
          <a:lstStyle/>
          <a:p>
            <a:pPr algn="l"/>
            <a:r>
              <a:rPr sz="1300" b="1" i="0">
                <a:solidFill>
                  <a:srgbClr val="1E2761"/>
                </a:solidFill>
                <a:latin typeface="Calibri"/>
              </a:rPr>
              <a:t>What Was Learned</a:t>
            </a:r>
          </a:p>
        </p:txBody>
      </p:sp>
      <p:sp>
        <p:nvSpPr>
          <p:cNvPr id="24" name="Rectangle 23"/>
          <p:cNvSpPr/>
          <p:nvPr/>
        </p:nvSpPr>
        <p:spPr>
          <a:xfrm>
            <a:off x="6217920" y="1572768"/>
            <a:ext cx="5303520" cy="36576"/>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217920" y="1737360"/>
            <a:ext cx="530352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217920" y="1737360"/>
            <a:ext cx="64008" cy="77724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446520" y="1874519"/>
            <a:ext cx="4937760" cy="530352"/>
          </a:xfrm>
          <a:prstGeom prst="rect">
            <a:avLst/>
          </a:prstGeom>
          <a:noFill/>
        </p:spPr>
        <p:txBody>
          <a:bodyPr wrap="square">
            <a:spAutoFit/>
          </a:bodyPr>
          <a:lstStyle/>
          <a:p>
            <a:pPr algn="l"/>
            <a:r>
              <a:rPr sz="1050" b="0" i="0">
                <a:solidFill>
                  <a:srgbClr val="55657A"/>
                </a:solidFill>
                <a:latin typeface="Calibri"/>
              </a:rPr>
              <a:t>How to integrate a third-party BaaS into a Flutter application using an official SDK</a:t>
            </a:r>
          </a:p>
        </p:txBody>
      </p:sp>
      <p:sp>
        <p:nvSpPr>
          <p:cNvPr id="28" name="Rectangle 27"/>
          <p:cNvSpPr/>
          <p:nvPr/>
        </p:nvSpPr>
        <p:spPr>
          <a:xfrm>
            <a:off x="6217920" y="2697480"/>
            <a:ext cx="530352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6217920" y="2697480"/>
            <a:ext cx="64008" cy="77724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46520" y="2834640"/>
            <a:ext cx="4937760" cy="530352"/>
          </a:xfrm>
          <a:prstGeom prst="rect">
            <a:avLst/>
          </a:prstGeom>
          <a:noFill/>
        </p:spPr>
        <p:txBody>
          <a:bodyPr wrap="square">
            <a:spAutoFit/>
          </a:bodyPr>
          <a:lstStyle/>
          <a:p>
            <a:pPr algn="l"/>
            <a:r>
              <a:rPr sz="1050" b="0" i="0">
                <a:solidFill>
                  <a:srgbClr val="55657A"/>
                </a:solidFill>
                <a:latin typeface="Calibri"/>
              </a:rPr>
              <a:t>The importance of testing each CRUD operation against the actual cloud database rather than assuming it works</a:t>
            </a:r>
          </a:p>
        </p:txBody>
      </p:sp>
      <p:sp>
        <p:nvSpPr>
          <p:cNvPr id="31" name="Rectangle 30"/>
          <p:cNvSpPr/>
          <p:nvPr/>
        </p:nvSpPr>
        <p:spPr>
          <a:xfrm>
            <a:off x="6217920" y="3657600"/>
            <a:ext cx="530352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6217920" y="3657600"/>
            <a:ext cx="64008" cy="77724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446520" y="3794760"/>
            <a:ext cx="4937760" cy="530352"/>
          </a:xfrm>
          <a:prstGeom prst="rect">
            <a:avLst/>
          </a:prstGeom>
          <a:noFill/>
        </p:spPr>
        <p:txBody>
          <a:bodyPr wrap="square">
            <a:spAutoFit/>
          </a:bodyPr>
          <a:lstStyle/>
          <a:p>
            <a:pPr algn="l"/>
            <a:r>
              <a:rPr sz="1050" b="0" i="0">
                <a:solidFill>
                  <a:srgbClr val="55657A"/>
                </a:solidFill>
                <a:latin typeface="Calibri"/>
              </a:rPr>
              <a:t>How ACL and CLP work together in Parse Server to control data access at different levels</a:t>
            </a:r>
          </a:p>
        </p:txBody>
      </p:sp>
      <p:sp>
        <p:nvSpPr>
          <p:cNvPr id="34" name="Rectangle 33"/>
          <p:cNvSpPr/>
          <p:nvPr/>
        </p:nvSpPr>
        <p:spPr>
          <a:xfrm>
            <a:off x="6217920" y="4617720"/>
            <a:ext cx="530352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6217920" y="4617720"/>
            <a:ext cx="64008" cy="77724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446520" y="4754880"/>
            <a:ext cx="4937760" cy="530352"/>
          </a:xfrm>
          <a:prstGeom prst="rect">
            <a:avLst/>
          </a:prstGeom>
          <a:noFill/>
        </p:spPr>
        <p:txBody>
          <a:bodyPr wrap="square">
            <a:spAutoFit/>
          </a:bodyPr>
          <a:lstStyle/>
          <a:p>
            <a:pPr algn="l"/>
            <a:r>
              <a:rPr sz="1050" b="0" i="0">
                <a:solidFill>
                  <a:srgbClr val="55657A"/>
                </a:solidFill>
                <a:latin typeface="Calibri"/>
              </a:rPr>
              <a:t>How Flutter's widget lifecycle interacts with asynchronous API calls</a:t>
            </a:r>
          </a:p>
        </p:txBody>
      </p:sp>
      <p:sp>
        <p:nvSpPr>
          <p:cNvPr id="37" name="Rectangle 36"/>
          <p:cNvSpPr/>
          <p:nvPr/>
        </p:nvSpPr>
        <p:spPr>
          <a:xfrm>
            <a:off x="6217920" y="5577840"/>
            <a:ext cx="530352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6217920" y="5577840"/>
            <a:ext cx="64008" cy="77724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446520" y="5715000"/>
            <a:ext cx="4937760" cy="530352"/>
          </a:xfrm>
          <a:prstGeom prst="rect">
            <a:avLst/>
          </a:prstGeom>
          <a:noFill/>
        </p:spPr>
        <p:txBody>
          <a:bodyPr wrap="square">
            <a:spAutoFit/>
          </a:bodyPr>
          <a:lstStyle/>
          <a:p>
            <a:pPr algn="l"/>
            <a:r>
              <a:rPr sz="1050" b="0" i="0">
                <a:solidFill>
                  <a:srgbClr val="55657A"/>
                </a:solidFill>
                <a:latin typeface="Calibri"/>
              </a:rPr>
              <a:t>Practical experience in reading SDK documentation and debugging network-layer issues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Rectangle 1"/>
          <p:cNvSpPr/>
          <p:nvPr/>
        </p:nvSpPr>
        <p:spPr>
          <a:xfrm>
            <a:off x="0" y="0"/>
            <a:ext cx="5943600" cy="68580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7772400" y="-731520"/>
            <a:ext cx="3200400" cy="3200400"/>
          </a:xfrm>
          <a:prstGeom prst="ellipse">
            <a:avLst/>
          </a:prstGeom>
          <a:solidFill>
            <a:srgbClr val="2E3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9601200" y="5029200"/>
            <a:ext cx="2743200" cy="2743200"/>
          </a:xfrm>
          <a:prstGeom prst="ellipse">
            <a:avLst/>
          </a:prstGeom>
          <a:solidFill>
            <a:srgbClr val="161D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188720"/>
            <a:ext cx="5029200" cy="640080"/>
          </a:xfrm>
          <a:prstGeom prst="rect">
            <a:avLst/>
          </a:prstGeom>
          <a:noFill/>
        </p:spPr>
        <p:txBody>
          <a:bodyPr wrap="square">
            <a:spAutoFit/>
          </a:bodyPr>
          <a:lstStyle/>
          <a:p>
            <a:pPr algn="l"/>
            <a:r>
              <a:rPr sz="3000" b="1" i="0">
                <a:solidFill>
                  <a:srgbClr val="FFFFFF"/>
                </a:solidFill>
                <a:latin typeface="Calibri"/>
              </a:rPr>
              <a:t>Conclusion</a:t>
            </a:r>
          </a:p>
        </p:txBody>
      </p:sp>
      <p:sp>
        <p:nvSpPr>
          <p:cNvPr id="7" name="Rectangle 6"/>
          <p:cNvSpPr/>
          <p:nvPr/>
        </p:nvSpPr>
        <p:spPr>
          <a:xfrm>
            <a:off x="457200" y="1965960"/>
            <a:ext cx="4114800" cy="4572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2103120"/>
            <a:ext cx="5120640" cy="1005840"/>
          </a:xfrm>
          <a:prstGeom prst="rect">
            <a:avLst/>
          </a:prstGeom>
          <a:noFill/>
        </p:spPr>
        <p:txBody>
          <a:bodyPr wrap="square">
            <a:spAutoFit/>
          </a:bodyPr>
          <a:lstStyle/>
          <a:p>
            <a:pPr algn="l"/>
            <a:r>
              <a:rPr sz="1200" b="0" i="0">
                <a:solidFill>
                  <a:srgbClr val="CADCFC"/>
                </a:solidFill>
                <a:latin typeface="Calibri"/>
              </a:rPr>
              <a:t>This project demonstrated how a fully functional mobile application with cloud backend capabilities can be built without writing any server-side code.</a:t>
            </a:r>
          </a:p>
        </p:txBody>
      </p:sp>
      <p:sp>
        <p:nvSpPr>
          <p:cNvPr id="9" name="TextBox 8"/>
          <p:cNvSpPr txBox="1"/>
          <p:nvPr/>
        </p:nvSpPr>
        <p:spPr>
          <a:xfrm>
            <a:off x="457200" y="3246120"/>
            <a:ext cx="5120640" cy="1280160"/>
          </a:xfrm>
          <a:prstGeom prst="rect">
            <a:avLst/>
          </a:prstGeom>
          <a:noFill/>
        </p:spPr>
        <p:txBody>
          <a:bodyPr wrap="square">
            <a:spAutoFit/>
          </a:bodyPr>
          <a:lstStyle/>
          <a:p>
            <a:pPr algn="l"/>
            <a:r>
              <a:rPr sz="1200" b="0" i="0">
                <a:solidFill>
                  <a:srgbClr val="CADCFC"/>
                </a:solidFill>
                <a:latin typeface="Calibri"/>
              </a:rPr>
              <a:t>Back4App handled authentication, database management, and data security, while Flutter provided a clean and responsive user interface. The combination of these two technologies allowed the complete application to be delivered within the project scope.</a:t>
            </a:r>
          </a:p>
        </p:txBody>
      </p:sp>
      <p:sp>
        <p:nvSpPr>
          <p:cNvPr id="10" name="TextBox 9"/>
          <p:cNvSpPr txBox="1"/>
          <p:nvPr/>
        </p:nvSpPr>
        <p:spPr>
          <a:xfrm>
            <a:off x="457200" y="5029200"/>
            <a:ext cx="5120640" cy="1169551"/>
          </a:xfrm>
          <a:prstGeom prst="rect">
            <a:avLst/>
          </a:prstGeom>
          <a:noFill/>
        </p:spPr>
        <p:txBody>
          <a:bodyPr wrap="square">
            <a:spAutoFit/>
          </a:bodyPr>
          <a:lstStyle/>
          <a:p>
            <a:pPr algn="l"/>
            <a:r>
              <a:rPr sz="1000" b="1" dirty="0">
                <a:solidFill>
                  <a:srgbClr val="FFFFFF"/>
                </a:solidFill>
                <a:latin typeface="Calibri"/>
              </a:rPr>
              <a:t>GitHub Repository:</a:t>
            </a:r>
          </a:p>
          <a:p>
            <a:r>
              <a:rPr lang="en-IN" sz="1000" b="1" dirty="0">
                <a:solidFill>
                  <a:srgbClr val="FFFFFF"/>
                </a:solidFill>
              </a:rPr>
              <a:t>https://github.com/2024tm93593/cross-platform-assignment-1</a:t>
            </a:r>
            <a:endParaRPr lang="en-IN" sz="1000" b="1" dirty="0" smtClean="0">
              <a:solidFill>
                <a:srgbClr val="FFFFFF"/>
              </a:solidFill>
              <a:latin typeface="Calibri"/>
            </a:endParaRPr>
          </a:p>
          <a:p>
            <a:pPr algn="l"/>
            <a:r>
              <a:rPr sz="1000" b="1" dirty="0" smtClean="0">
                <a:solidFill>
                  <a:srgbClr val="FFFFFF"/>
                </a:solidFill>
                <a:latin typeface="Calibri"/>
              </a:rPr>
              <a:t>YouTube </a:t>
            </a:r>
            <a:r>
              <a:rPr sz="1000" b="1" dirty="0">
                <a:solidFill>
                  <a:srgbClr val="FFFFFF"/>
                </a:solidFill>
                <a:latin typeface="Calibri"/>
              </a:rPr>
              <a:t>Demo</a:t>
            </a:r>
            <a:r>
              <a:rPr sz="1000" b="1" dirty="0" smtClean="0">
                <a:solidFill>
                  <a:srgbClr val="FFFFFF"/>
                </a:solidFill>
                <a:latin typeface="Calibri"/>
              </a:rPr>
              <a:t>:</a:t>
            </a:r>
            <a:endParaRPr lang="en-IN" sz="1000" b="1" dirty="0" smtClean="0">
              <a:solidFill>
                <a:srgbClr val="FFFFFF"/>
              </a:solidFill>
              <a:latin typeface="Calibri"/>
            </a:endParaRPr>
          </a:p>
          <a:p>
            <a:r>
              <a:rPr lang="en-IN" sz="1000" b="1" dirty="0">
                <a:solidFill>
                  <a:schemeClr val="bg1"/>
                </a:solidFill>
                <a:hlinkClick r:id="rId2"/>
              </a:rPr>
              <a:t>https://</a:t>
            </a:r>
            <a:r>
              <a:rPr lang="en-IN" sz="1000" b="1" dirty="0" smtClean="0">
                <a:solidFill>
                  <a:schemeClr val="bg1"/>
                </a:solidFill>
                <a:hlinkClick r:id="rId2"/>
              </a:rPr>
              <a:t>www.youtube.com/watch?v=RfMuzjEBz5g</a:t>
            </a:r>
            <a:r>
              <a:rPr lang="en-IN" sz="1000" b="1" dirty="0">
                <a:solidFill>
                  <a:srgbClr val="FFFFFF"/>
                </a:solidFill>
              </a:rPr>
              <a:t/>
            </a:r>
            <a:br>
              <a:rPr lang="en-IN" sz="1000" b="1" dirty="0">
                <a:solidFill>
                  <a:srgbClr val="FFFFFF"/>
                </a:solidFill>
              </a:rPr>
            </a:br>
            <a:r>
              <a:rPr lang="en-IN" sz="1000" b="1" dirty="0">
                <a:solidFill>
                  <a:srgbClr val="FFFFFF"/>
                </a:solidFill>
              </a:rPr>
              <a:t>Drive link: </a:t>
            </a:r>
            <a:br>
              <a:rPr lang="en-IN" sz="1000" b="1" dirty="0">
                <a:solidFill>
                  <a:srgbClr val="FFFFFF"/>
                </a:solidFill>
              </a:rPr>
            </a:br>
            <a:r>
              <a:rPr lang="en-IN" sz="1000" b="1" dirty="0">
                <a:solidFill>
                  <a:srgbClr val="FFFFFF"/>
                </a:solidFill>
              </a:rPr>
              <a:t>https://drive.google.com/drive/folders/1QU4SbrsvW0_zrbyVoifXOx_2KP4HhlmS?usp=sharing</a:t>
            </a:r>
            <a:endParaRPr sz="1000" b="1" dirty="0">
              <a:solidFill>
                <a:srgbClr val="FFFFFF"/>
              </a:solidFill>
              <a:latin typeface="Calibri"/>
            </a:endParaRPr>
          </a:p>
        </p:txBody>
      </p:sp>
      <p:sp>
        <p:nvSpPr>
          <p:cNvPr id="11" name="TextBox 10"/>
          <p:cNvSpPr txBox="1"/>
          <p:nvPr/>
        </p:nvSpPr>
        <p:spPr>
          <a:xfrm>
            <a:off x="6400800" y="1188720"/>
            <a:ext cx="5303520" cy="457200"/>
          </a:xfrm>
          <a:prstGeom prst="rect">
            <a:avLst/>
          </a:prstGeom>
          <a:noFill/>
        </p:spPr>
        <p:txBody>
          <a:bodyPr wrap="square">
            <a:spAutoFit/>
          </a:bodyPr>
          <a:lstStyle/>
          <a:p>
            <a:pPr algn="l"/>
            <a:r>
              <a:rPr sz="1400" b="1" i="0">
                <a:solidFill>
                  <a:srgbClr val="CADCFC"/>
                </a:solidFill>
                <a:latin typeface="Calibri"/>
              </a:rPr>
              <a:t>Project Outcomes</a:t>
            </a:r>
          </a:p>
        </p:txBody>
      </p:sp>
      <p:sp>
        <p:nvSpPr>
          <p:cNvPr id="12" name="Rectangle 11"/>
          <p:cNvSpPr/>
          <p:nvPr/>
        </p:nvSpPr>
        <p:spPr>
          <a:xfrm>
            <a:off x="6400800" y="1691640"/>
            <a:ext cx="5029200" cy="36576"/>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400800" y="1920240"/>
            <a:ext cx="5394960" cy="731520"/>
          </a:xfrm>
          <a:prstGeom prst="rect">
            <a:avLst/>
          </a:prstGeom>
          <a:solidFill>
            <a:srgbClr val="2E3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400800" y="1920240"/>
            <a:ext cx="64008" cy="73152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565392" y="1965960"/>
            <a:ext cx="2011680" cy="256032"/>
          </a:xfrm>
          <a:prstGeom prst="rect">
            <a:avLst/>
          </a:prstGeom>
          <a:noFill/>
        </p:spPr>
        <p:txBody>
          <a:bodyPr wrap="square">
            <a:spAutoFit/>
          </a:bodyPr>
          <a:lstStyle/>
          <a:p>
            <a:pPr algn="l"/>
            <a:r>
              <a:rPr sz="1000" b="1" i="0">
                <a:solidFill>
                  <a:srgbClr val="CADCFC"/>
                </a:solidFill>
                <a:latin typeface="Calibri"/>
              </a:rPr>
              <a:t>Authentication</a:t>
            </a:r>
          </a:p>
        </p:txBody>
      </p:sp>
      <p:sp>
        <p:nvSpPr>
          <p:cNvPr id="16" name="TextBox 15"/>
          <p:cNvSpPr txBox="1"/>
          <p:nvPr/>
        </p:nvSpPr>
        <p:spPr>
          <a:xfrm>
            <a:off x="6565392" y="2267712"/>
            <a:ext cx="5029200" cy="320040"/>
          </a:xfrm>
          <a:prstGeom prst="rect">
            <a:avLst/>
          </a:prstGeom>
          <a:noFill/>
        </p:spPr>
        <p:txBody>
          <a:bodyPr wrap="square">
            <a:spAutoFit/>
          </a:bodyPr>
          <a:lstStyle/>
          <a:p>
            <a:pPr algn="l"/>
            <a:r>
              <a:rPr sz="1000" b="0" i="0">
                <a:solidFill>
                  <a:srgbClr val="FFFFFF"/>
                </a:solidFill>
                <a:latin typeface="Calibri"/>
              </a:rPr>
              <a:t>Registration and login fully functional via Back4App ParseUser</a:t>
            </a:r>
          </a:p>
        </p:txBody>
      </p:sp>
      <p:sp>
        <p:nvSpPr>
          <p:cNvPr id="17" name="Rectangle 16"/>
          <p:cNvSpPr/>
          <p:nvPr/>
        </p:nvSpPr>
        <p:spPr>
          <a:xfrm>
            <a:off x="6400800" y="2834640"/>
            <a:ext cx="5394960" cy="731520"/>
          </a:xfrm>
          <a:prstGeom prst="rect">
            <a:avLst/>
          </a:prstGeom>
          <a:solidFill>
            <a:srgbClr val="2E3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400800" y="2834640"/>
            <a:ext cx="64008" cy="73152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565392" y="2880360"/>
            <a:ext cx="2011680" cy="256032"/>
          </a:xfrm>
          <a:prstGeom prst="rect">
            <a:avLst/>
          </a:prstGeom>
          <a:noFill/>
        </p:spPr>
        <p:txBody>
          <a:bodyPr wrap="square">
            <a:spAutoFit/>
          </a:bodyPr>
          <a:lstStyle/>
          <a:p>
            <a:pPr algn="l"/>
            <a:r>
              <a:rPr sz="1000" b="1" i="0">
                <a:solidFill>
                  <a:srgbClr val="CADCFC"/>
                </a:solidFill>
                <a:latin typeface="Calibri"/>
              </a:rPr>
              <a:t>Data Storage</a:t>
            </a:r>
          </a:p>
        </p:txBody>
      </p:sp>
      <p:sp>
        <p:nvSpPr>
          <p:cNvPr id="20" name="TextBox 19"/>
          <p:cNvSpPr txBox="1"/>
          <p:nvPr/>
        </p:nvSpPr>
        <p:spPr>
          <a:xfrm>
            <a:off x="6565392" y="3182112"/>
            <a:ext cx="5029200" cy="320040"/>
          </a:xfrm>
          <a:prstGeom prst="rect">
            <a:avLst/>
          </a:prstGeom>
          <a:noFill/>
        </p:spPr>
        <p:txBody>
          <a:bodyPr wrap="square">
            <a:spAutoFit/>
          </a:bodyPr>
          <a:lstStyle/>
          <a:p>
            <a:pPr algn="l"/>
            <a:r>
              <a:rPr sz="1000" b="0" i="0">
                <a:solidFill>
                  <a:srgbClr val="FFFFFF"/>
                </a:solidFill>
                <a:latin typeface="Calibri"/>
              </a:rPr>
              <a:t>All tasks persisted in Back4App cloud database with ACL security</a:t>
            </a:r>
          </a:p>
        </p:txBody>
      </p:sp>
      <p:sp>
        <p:nvSpPr>
          <p:cNvPr id="21" name="Rectangle 20"/>
          <p:cNvSpPr/>
          <p:nvPr/>
        </p:nvSpPr>
        <p:spPr>
          <a:xfrm>
            <a:off x="6400800" y="3749039"/>
            <a:ext cx="5394960" cy="731520"/>
          </a:xfrm>
          <a:prstGeom prst="rect">
            <a:avLst/>
          </a:prstGeom>
          <a:solidFill>
            <a:srgbClr val="2E3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400800" y="3749039"/>
            <a:ext cx="64008" cy="73152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565392" y="3794759"/>
            <a:ext cx="2011680" cy="256032"/>
          </a:xfrm>
          <a:prstGeom prst="rect">
            <a:avLst/>
          </a:prstGeom>
          <a:noFill/>
        </p:spPr>
        <p:txBody>
          <a:bodyPr wrap="square">
            <a:spAutoFit/>
          </a:bodyPr>
          <a:lstStyle/>
          <a:p>
            <a:pPr algn="l"/>
            <a:r>
              <a:rPr sz="1000" b="1" i="0">
                <a:solidFill>
                  <a:srgbClr val="CADCFC"/>
                </a:solidFill>
                <a:latin typeface="Calibri"/>
              </a:rPr>
              <a:t>CRUD Complete</a:t>
            </a:r>
          </a:p>
        </p:txBody>
      </p:sp>
      <p:sp>
        <p:nvSpPr>
          <p:cNvPr id="24" name="TextBox 23"/>
          <p:cNvSpPr txBox="1"/>
          <p:nvPr/>
        </p:nvSpPr>
        <p:spPr>
          <a:xfrm>
            <a:off x="6565392" y="4096511"/>
            <a:ext cx="5029200" cy="320040"/>
          </a:xfrm>
          <a:prstGeom prst="rect">
            <a:avLst/>
          </a:prstGeom>
          <a:noFill/>
        </p:spPr>
        <p:txBody>
          <a:bodyPr wrap="square">
            <a:spAutoFit/>
          </a:bodyPr>
          <a:lstStyle/>
          <a:p>
            <a:pPr algn="l"/>
            <a:r>
              <a:rPr sz="1000" b="0" i="0">
                <a:solidFill>
                  <a:srgbClr val="FFFFFF"/>
                </a:solidFill>
                <a:latin typeface="Calibri"/>
              </a:rPr>
              <a:t>Create, read, update, and delete operations all working correctly</a:t>
            </a:r>
          </a:p>
        </p:txBody>
      </p:sp>
      <p:sp>
        <p:nvSpPr>
          <p:cNvPr id="25" name="Rectangle 24"/>
          <p:cNvSpPr/>
          <p:nvPr/>
        </p:nvSpPr>
        <p:spPr>
          <a:xfrm>
            <a:off x="6400800" y="4663440"/>
            <a:ext cx="5394960" cy="731520"/>
          </a:xfrm>
          <a:prstGeom prst="rect">
            <a:avLst/>
          </a:prstGeom>
          <a:solidFill>
            <a:srgbClr val="2E3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400800" y="4663440"/>
            <a:ext cx="64008" cy="73152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565392" y="4709159"/>
            <a:ext cx="2011680" cy="256032"/>
          </a:xfrm>
          <a:prstGeom prst="rect">
            <a:avLst/>
          </a:prstGeom>
          <a:noFill/>
        </p:spPr>
        <p:txBody>
          <a:bodyPr wrap="square">
            <a:spAutoFit/>
          </a:bodyPr>
          <a:lstStyle/>
          <a:p>
            <a:pPr algn="l"/>
            <a:r>
              <a:rPr sz="1000" b="1" i="0">
                <a:solidFill>
                  <a:srgbClr val="CADCFC"/>
                </a:solidFill>
                <a:latin typeface="Calibri"/>
              </a:rPr>
              <a:t>Real-Time Sync</a:t>
            </a:r>
          </a:p>
        </p:txBody>
      </p:sp>
      <p:sp>
        <p:nvSpPr>
          <p:cNvPr id="28" name="TextBox 27"/>
          <p:cNvSpPr txBox="1"/>
          <p:nvPr/>
        </p:nvSpPr>
        <p:spPr>
          <a:xfrm>
            <a:off x="6565392" y="5010912"/>
            <a:ext cx="5029200" cy="320040"/>
          </a:xfrm>
          <a:prstGeom prst="rect">
            <a:avLst/>
          </a:prstGeom>
          <a:noFill/>
        </p:spPr>
        <p:txBody>
          <a:bodyPr wrap="square">
            <a:spAutoFit/>
          </a:bodyPr>
          <a:lstStyle/>
          <a:p>
            <a:pPr algn="l"/>
            <a:r>
              <a:rPr sz="1000" b="0" i="0">
                <a:solidFill>
                  <a:srgbClr val="FFFFFF"/>
                </a:solidFill>
                <a:latin typeface="Calibri"/>
              </a:rPr>
              <a:t>Every change immediately reflected in the Back4App dashboard</a:t>
            </a:r>
          </a:p>
        </p:txBody>
      </p:sp>
      <p:sp>
        <p:nvSpPr>
          <p:cNvPr id="29" name="Rectangle 28"/>
          <p:cNvSpPr/>
          <p:nvPr/>
        </p:nvSpPr>
        <p:spPr>
          <a:xfrm>
            <a:off x="6400800" y="5577840"/>
            <a:ext cx="5394960" cy="731520"/>
          </a:xfrm>
          <a:prstGeom prst="rect">
            <a:avLst/>
          </a:prstGeom>
          <a:solidFill>
            <a:srgbClr val="2E3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6400800" y="5577840"/>
            <a:ext cx="64008" cy="73152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565392" y="5623559"/>
            <a:ext cx="2011680" cy="256032"/>
          </a:xfrm>
          <a:prstGeom prst="rect">
            <a:avLst/>
          </a:prstGeom>
          <a:noFill/>
        </p:spPr>
        <p:txBody>
          <a:bodyPr wrap="square">
            <a:spAutoFit/>
          </a:bodyPr>
          <a:lstStyle/>
          <a:p>
            <a:pPr algn="l"/>
            <a:r>
              <a:rPr sz="1000" b="1" i="0">
                <a:solidFill>
                  <a:srgbClr val="CADCFC"/>
                </a:solidFill>
                <a:latin typeface="Calibri"/>
              </a:rPr>
              <a:t>Clean UI</a:t>
            </a:r>
          </a:p>
        </p:txBody>
      </p:sp>
      <p:sp>
        <p:nvSpPr>
          <p:cNvPr id="32" name="TextBox 31"/>
          <p:cNvSpPr txBox="1"/>
          <p:nvPr/>
        </p:nvSpPr>
        <p:spPr>
          <a:xfrm>
            <a:off x="6565392" y="5925312"/>
            <a:ext cx="5029200" cy="320040"/>
          </a:xfrm>
          <a:prstGeom prst="rect">
            <a:avLst/>
          </a:prstGeom>
          <a:noFill/>
        </p:spPr>
        <p:txBody>
          <a:bodyPr wrap="square">
            <a:spAutoFit/>
          </a:bodyPr>
          <a:lstStyle/>
          <a:p>
            <a:pPr algn="l"/>
            <a:r>
              <a:rPr sz="1000" b="0" i="0">
                <a:solidFill>
                  <a:srgbClr val="FFFFFF"/>
                </a:solidFill>
                <a:latin typeface="Calibri"/>
              </a:rPr>
              <a:t>Material 3 design with filter chips, swipe-to-delete, and stats card</a:t>
            </a:r>
          </a:p>
        </p:txBody>
      </p:sp>
      <p:sp>
        <p:nvSpPr>
          <p:cNvPr id="33" name="TextBox 32"/>
          <p:cNvSpPr txBox="1"/>
          <p:nvPr/>
        </p:nvSpPr>
        <p:spPr>
          <a:xfrm>
            <a:off x="6400800" y="6492240"/>
            <a:ext cx="5394960" cy="320040"/>
          </a:xfrm>
          <a:prstGeom prst="rect">
            <a:avLst/>
          </a:prstGeom>
          <a:noFill/>
        </p:spPr>
        <p:txBody>
          <a:bodyPr wrap="square">
            <a:spAutoFit/>
          </a:bodyPr>
          <a:lstStyle/>
          <a:p>
            <a:pPr algn="r"/>
            <a:r>
              <a:rPr sz="1300" b="1" i="0">
                <a:solidFill>
                  <a:srgbClr val="4A90D9"/>
                </a:solidFill>
                <a:latin typeface="Calibri"/>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54</TotalTime>
  <Words>1558</Words>
  <Application>Microsoft Office PowerPoint</Application>
  <PresentationFormat>Custom</PresentationFormat>
  <Paragraphs>158</Paragraphs>
  <Slides>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Chetan</cp:lastModifiedBy>
  <cp:revision>10</cp:revision>
  <dcterms:created xsi:type="dcterms:W3CDTF">2013-01-27T09:14:16Z</dcterms:created>
  <dcterms:modified xsi:type="dcterms:W3CDTF">2026-05-02T18:17:21Z</dcterms:modified>
  <cp:category/>
</cp:coreProperties>
</file>